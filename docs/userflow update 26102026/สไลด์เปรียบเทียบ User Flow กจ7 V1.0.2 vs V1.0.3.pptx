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ภาพรวม" id="{354b6428-dbb4-87db-c372-39ecffcd1d84}">
          <p14:sldIdLst>
            <p14:sldId id="257"/>
            <p14:sldId id="258"/>
            <p14:sldId id="259"/>
          </p14:sldIdLst>
        </p14:section>
        <p14:section name="หน้า 1 ไต่สวนเบื้องต้น (RES001–RES032)" id="{5a281b3c-cc0b-8465-ab14-8fbdb677bbc9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หน้า 2 ไต่สวนวินิจฉัยชี้มูล (RES101–RES134)" id="{6933be06-ca3c-b1e6-f05f-010f95cd77a3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หน้า 3 มติเรื่องทั่วไป (RES201–RES218)" id="{ea9862bb-04eb-9682-ab8a-409e13f234e6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ประเด็นรอยืนยันและผลตรวจ" id="{4ac15456-f983-1223-e91e-173615b0a63a}">
          <p14:sldIdLst>
            <p14:sldId id="300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ฉบับร่างเพื่อตรวจภายใน รายละเอียดทั้งหมดอยู่ในบันทึกการแก้ไขเลขที่ 1791976367965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ขอบเขต: User Flow V1.0.2 ทั้ง 3 หน้า (RES001–RES218) ตามรายงานตรวจรับ และผลกระทบต่อเล่ม 4 บทที่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ขั้นตอน = 16 แสดงรายการ + 7 ส่งต่อ/สั่งการ + 17 จัดทำเอกสาร (17 ขั้นตอนหลังยังรอยืนยันผู้ปฏิบัติ Q2); 43 เส้นทาง = 21 + 16 + 6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V1.0.2 - 01.png"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V1.0.2 - 02.png"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V1.0.3 - 1-1.png" — สิ่งที่เปลี่ยน: ย้ายทุกขั้นตอนออกจาก Lane ระบบ; รวม Part 1+2 ลด connector "ไป D03 / จาก D02"; D → DEC-, Start/End ตาม template; DEC-001 อยู่ Lane ผู้ส่งเรื่อง [Q1]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V1.0.2 - 03.png"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V1.0.3 - 1-2.png" — สิ่งที่เปลี่ยน: RES009/010 ไปอยู่ Lane ผอ.กบค.; RES012 อยู่ Lane คณะอนุฯ สนับสนุน [Q2]; Link A/B จับคู่กับหน้า 1.1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V1.0.2 - 04.png"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V1.0.3 - 1-3.png" — สิ่งที่เปลี่ยน: RES014 → ประธานฯ ตรวจสอบรายการ; Link C/D แทน "จาก D04 (ใช่/ไม่)"; RES017 อยู่ Lane คณะอนุฯ กลั่นกรอง [Q2]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V1.0.2 - 05.png"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V1.0.3 - 1-4.png" — สิ่งที่เปลี่ยน: RES019 → ประธานฯ; RES021 → กลุ่มงานคำวินิจฉัยฯ [Q2]; รับเข้า 2 ทางคนละด้าน ไม่ใช้เส้นรวม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V1.0.2 - 06.png"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V1.0.2 - 07.png"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V1.0.2 - 08.png"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V1.0.3 - 1-5.png" — สิ่งที่เปลี่ยน: รวม 3 Part เป็นภาพเดียว ตัด "ไป D006"/"ไป RES029"; แยกเส้น DEC-006 ใช่ / DEC-007 ไม่ (ข้อ 4.1); RES029→030→031→032 เรียงต่อกัน (ข้อ 4.2)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V1.0.2 - 09.png"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V1.0.2 - 10.png"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V1.0.3 - 2-1.png" — สิ่งที่เปลี่ยน: รูปแบบเดียวกับ 1.1; RES107 ชื่อตามตาราง 2.2.1.2; DEC-101 [Q1]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V1.0.2 - 11.png"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V1.0.3 - 2-2.png" — สิ่งที่เปลี่ยน: รูปแบบเดียวกับ 1.2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V1.0.2 - 12.png"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V1.0.2 - 13.png"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V1.0.3 - 2-3.png" — สิ่งที่เปลี่ยน: รวม Part ประธานฯ คัดกรอง + กลุ่มงานกิจการ; DEC-104 คงทิศทางเดิม [Q3]; RES115 ชื่อตามตาราง [Q12]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V1.0.2 - 14.png"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V1.0.3 - 2-4.png" — สิ่งที่เปลี่ยน: รับเข้า 3 ทาง (D, E, F) คนละด้านของ RES121; ตัด Lane 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V1.0.2 - 15.png"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V1.0.2 - 16.png"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V1.0.3 - 2-5.png" — สิ่งที่เปลี่ยน: รวม Part 1–2; DEC-105 ใช่ → Link H; RES129 จบที่ End Event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V1.0.2 - 16.png"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V1.0.2 - 17.png"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V1.0.3 - 2-6.png" — สิ่งที่เปลี่ยน: DEC-106 สายอาญา → สิ้นสุด ทำเครื่องหมาย [Q5] (ข้อ 4.3); RES133 → RES134 ใน Lane กลุ่มงานกิจการ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V1.0.2 - 18.png"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V1.0.3 - 3-1.png" — สิ่งที่เปลี่ยน: ตัด Lane ระบบ, DEC-201 [Q1]; RES204 [Q9]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V1.0.2 - 19.png"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V1.0.2 - 20.png"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V1.0.3 - 3-2.png" — สิ่งที่เปลี่ยน: รวม Part มอบหมาย/สั่งการ + บรรจุวาระ; RES207 → ประธานฯ (ข้อ 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V1.0.2 - 21.png"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ภาพเดิมจากไฟล์ "กิจกรรมที่ 7 User Flow V1.0.2 - 22.png"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ภาพใหม่จากไฟล์ "กิจกรรมที่ 7 User Flow V1.0.3 - 3-3.png" — สิ่งที่เปลี่ยน: รวม Part ตัด "ไป D206 / จาก RES215" (ข้อ 1); DEC-203 คงทิศทางเดิม [Q4]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เสนอให้ Start และ "แนบใบด่วนมาแล้ว?" อยู่ใน Lane ผู้รับผิดชอบสำนวนคดี (กจ.5) สำหรับไต่สวนเบื้องต้น/ชี้มูล และ "ผู้เสนอเรื่อง" สำหรับมติเรื่องทั่วไป
Q2: RES010, 012, 017, 021, 024, 029, 031, 110, 112, 116, 119, 123, 126, 130, 133, 210, 213 — ร่างนี้วางไว้ใน Lane ผู้ใช้ที่ทำงานต่อด้วยเอกสารนั้น
Q3: ภาพเดิม: ใช่ → RES115 (ส่งคณะอนุฯ กลั่นกรอง), ไม่ → RES118 (ลงนามมอบหมาย) | ตาราง 2.2.1.2: ใช่ → 118, ไม่ → 115
Q4: ภาพเดิม: ใช่ → RES216, ไม่ → RES218 | ตาราง 2.2.2.3: ใช่ → 218, ไม่ → 216 (ตารางสอดคล้องกับรูปแบบ DEC-006)
Q5: ผู้ตรวจรับ (R2 ข้อ 4.3) ขอให้มี Action ก่อนจุดสิ้นสุด แต่ไม่มีข้อมูลว่าเป็นขั้นตอนใด
Q6: R2 ข้อ 2, 5 และข้อสั่งการ 2, 4 ให้คง Lane ระบบเฉพาะงานอัตโนมัติและเพิ่มสถานะ แต่ R3 ห้ามมี Lane ระบบและห้ามแสดงขั้นตอนเบื้องหลัง (R4 ใช้แนวทางเดียวกับ R3) — ร่างนี้ยึด R3
Q7: template ยังมี 2 ค่า (#EDE6F6 / #DDE8FA) — ใช้ #DDE8FA ชั่วคราว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Q8: หลังแนบใบด่วนแล้ว ควรวนกลับเข้า DEC-001/101 หรือถือเป็นกระบวนการใหม่
Q9: ผังและตาราง 2.2.1.3 ไปต่อ RES206 ทันที
Q10: หัวข้อ "ผังขั้นตอนระบบจัดเก็บข้อมูลสำนวนคดีอิเล็กทรอนิกส์" แต่ภาพเป็นมติเรื่องทั่วไป (ตาราง 2.2.1.3 ใช้ชื่อ "การจัดทำมติเรื่องทั่วไป")
Q11: ยังใช้ Lane ระบบ E-CMIS; ไม่มีไฟล์ drawio ในชุด V1.0.2; อยู่นอกขอบเขตคอมเมนต์ (RES001–RES218); รหัส RES053–055 ไม่ต่อเนื่องกับชุดอื่น
Q12: ภาพเดิม "ลงรับและคัดกรองสำนวน" (ซ้ำ RES114) | ตาราง "ส่งเรื่องเข้าสู่คณะอนุกรรมการกลั่นกรองฯ เพื่อพิจารณาเสนอมติ" — ร่างใช้ตามตาราง
Q13: พบระหว่างตรวจ ไม่อยู่ในขอบเขตคอมเมนต์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User Flow กิจกรรมที่ 7 | V1.0.2 → V1.0.3 | 26 ต.ค. 2569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สรุปการปรับแก้ User Flow กิจกรรมที่ 7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เปรียบเทียบฉบับเดิม V1.0.2 กับฉบับปรับปรุง V1.0.3 ตามผลการตรวจรับ (16 ต.ค. 2569)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โครงการ E-CMIS | กิจการค้าร่วม SS CONSORTIUM | 26 ต.ค. 2569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ผลตรวจรับ "ไม่ผ่าน" จาก 5 ประเด็นหลัก จึงปรับทั้งชุด 3 หน้า</a:t>
            </a:r>
            <a:endParaRPr lang="en-US" sz="2400" dirty="0"/>
          </a:p>
        </p:txBody>
      </p:sp>
      <p:sp>
        <p:nvSpPr>
          <p:cNvPr id="3" name="issue-num-1"/>
          <p:cNvSpPr txBox="1"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issue-1"/>
          <p:cNvSpPr txBox="1"/>
          <p:nvPr/>
        </p:nvSpPr>
        <p:spPr>
          <a:xfrm>
            <a:off x="1188720" y="11887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Connector ข้ามหน้าไม่ตรงกัน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เช่น RES215 "ไป D206" แต่ไม่มี D206</a:t>
            </a:r>
            <a:endParaRPr lang="en-US" sz="1700" dirty="0"/>
          </a:p>
        </p:txBody>
      </p:sp>
      <p:sp>
        <p:nvSpPr>
          <p:cNvPr id="5" name="issue-num-2"/>
          <p:cNvSpPr txBox="1"/>
          <p:nvPr/>
        </p:nvSpPr>
        <p:spPr>
          <a:xfrm>
            <a:off x="457200" y="226771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6" name="issue-2"/>
          <p:cNvSpPr txBox="1"/>
          <p:nvPr/>
        </p:nvSpPr>
        <p:spPr>
          <a:xfrm>
            <a:off x="1188720" y="217627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Lane ระบบปนงานของคน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RES005, RES006, RES207 อยู่ใน Lane ระบบ E-CMIS</a:t>
            </a:r>
            <a:endParaRPr lang="en-US" sz="1700" dirty="0"/>
          </a:p>
        </p:txBody>
      </p:sp>
      <p:sp>
        <p:nvSpPr>
          <p:cNvPr id="7" name="issue-num-3"/>
          <p:cNvSpPr txBox="1"/>
          <p:nvPr/>
        </p:nvSpPr>
        <p:spPr>
          <a:xfrm>
            <a:off x="457200" y="325526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8" name="issue-3"/>
          <p:cNvSpPr txBox="1"/>
          <p:nvPr/>
        </p:nvSpPr>
        <p:spPr>
          <a:xfrm>
            <a:off x="1188720" y="3163824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รหัส D ชนกับ Data Store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D001… สับสนกับ D1, D2 ใน DFD</a:t>
            </a:r>
            <a:endParaRPr lang="en-US" sz="1700" dirty="0"/>
          </a:p>
        </p:txBody>
      </p:sp>
      <p:sp>
        <p:nvSpPr>
          <p:cNvPr id="9" name="issue-num-4"/>
          <p:cNvSpPr txBox="1"/>
          <p:nvPr/>
        </p:nvSpPr>
        <p:spPr>
          <a:xfrm>
            <a:off x="457200" y="4242816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0" name="issue-4"/>
          <p:cNvSpPr txBox="1"/>
          <p:nvPr/>
        </p:nvSpPr>
        <p:spPr>
          <a:xfrm>
            <a:off x="1188720" y="4151376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เงื่อนไข/สายงานไม่สมบูรณ์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เส้นซ้อน D006/D007, แตกกิ่งที่ RES030, D106 จบทันที</a:t>
            </a:r>
            <a:endParaRPr lang="en-US" sz="1700" dirty="0"/>
          </a:p>
        </p:txBody>
      </p:sp>
      <p:sp>
        <p:nvSpPr>
          <p:cNvPr id="11" name="issue-num-5"/>
          <p:cNvSpPr txBox="1"/>
          <p:nvPr/>
        </p:nvSpPr>
        <p:spPr>
          <a:xfrm>
            <a:off x="457200" y="523036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2" name="issue-5"/>
          <p:cNvSpPr txBox="1"/>
          <p:nvPr/>
        </p:nvSpPr>
        <p:spPr>
          <a:xfrm>
            <a:off x="1188720" y="513892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ไม่มี System Action/Status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ขัดกับ template ที่ห้ามแสดง System Flow (รอยืนยัน Q6)</a:t>
            </a:r>
            <a:endParaRPr lang="en-US" sz="1700" dirty="0"/>
          </a:p>
        </p:txBody>
      </p:sp>
      <p:sp>
        <p:nvSpPr>
          <p:cNvPr id="13" name="stat-bg-0"/>
          <p:cNvSpPr/>
          <p:nvPr/>
        </p:nvSpPr>
        <p:spPr>
          <a:xfrm>
            <a:off x="7315200" y="1234440"/>
            <a:ext cx="21031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at-0"/>
          <p:cNvSpPr txBox="1"/>
          <p:nvPr/>
        </p:nvSpPr>
        <p:spPr>
          <a:xfrm>
            <a:off x="7315200" y="14630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3</a:t>
            </a:r>
            <a:endParaRPr lang="en-US" sz="4400" dirty="0"/>
          </a:p>
        </p:txBody>
      </p:sp>
      <p:sp>
        <p:nvSpPr>
          <p:cNvPr id="15" name="stat-lbl-0"/>
          <p:cNvSpPr txBox="1"/>
          <p:nvPr/>
        </p:nvSpPr>
        <p:spPr>
          <a:xfrm>
            <a:off x="7452360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หน้า Draw.io (ไต่สวนเบื้องต้น / ชี้มูล / มติทั่วไป)</a:t>
            </a:r>
            <a:endParaRPr lang="en-US" sz="1300" dirty="0"/>
          </a:p>
        </p:txBody>
      </p:sp>
      <p:sp>
        <p:nvSpPr>
          <p:cNvPr id="16" name="stat-bg-1"/>
          <p:cNvSpPr/>
          <p:nvPr/>
        </p:nvSpPr>
        <p:spPr>
          <a:xfrm>
            <a:off x="9601200" y="1234440"/>
            <a:ext cx="21031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at-1"/>
          <p:cNvSpPr txBox="1"/>
          <p:nvPr/>
        </p:nvSpPr>
        <p:spPr>
          <a:xfrm>
            <a:off x="9601200" y="14630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84</a:t>
            </a:r>
            <a:endParaRPr lang="en-US" sz="4400" dirty="0"/>
          </a:p>
        </p:txBody>
      </p:sp>
      <p:sp>
        <p:nvSpPr>
          <p:cNvPr id="18" name="stat-lbl-1"/>
          <p:cNvSpPr txBox="1"/>
          <p:nvPr/>
        </p:nvSpPr>
        <p:spPr>
          <a:xfrm>
            <a:off x="9738360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ขั้นตอน RES คงเดิมทั้งหมด</a:t>
            </a:r>
            <a:endParaRPr lang="en-US" sz="1300" dirty="0"/>
          </a:p>
        </p:txBody>
      </p:sp>
      <p:sp>
        <p:nvSpPr>
          <p:cNvPr id="19" name="stat-bg-2"/>
          <p:cNvSpPr/>
          <p:nvPr/>
        </p:nvSpPr>
        <p:spPr>
          <a:xfrm>
            <a:off x="7315200" y="3566160"/>
            <a:ext cx="21031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at-2"/>
          <p:cNvSpPr txBox="1"/>
          <p:nvPr/>
        </p:nvSpPr>
        <p:spPr>
          <a:xfrm>
            <a:off x="7315200" y="37947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22 → 14</a:t>
            </a:r>
            <a:endParaRPr lang="en-US" sz="3000" dirty="0"/>
          </a:p>
        </p:txBody>
      </p:sp>
      <p:sp>
        <p:nvSpPr>
          <p:cNvPr id="21" name="stat-lbl-2"/>
          <p:cNvSpPr txBox="1"/>
          <p:nvPr/>
        </p:nvSpPr>
        <p:spPr>
          <a:xfrm>
            <a:off x="7452360" y="4709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ภาพ หลังรวมช่วงงาน</a:t>
            </a:r>
            <a:endParaRPr lang="en-US" sz="1300" dirty="0"/>
          </a:p>
        </p:txBody>
      </p:sp>
      <p:sp>
        <p:nvSpPr>
          <p:cNvPr id="22" name="stat-bg-3"/>
          <p:cNvSpPr/>
          <p:nvPr/>
        </p:nvSpPr>
        <p:spPr>
          <a:xfrm>
            <a:off x="9601200" y="3566160"/>
            <a:ext cx="210312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tat-3"/>
          <p:cNvSpPr txBox="1"/>
          <p:nvPr/>
        </p:nvSpPr>
        <p:spPr>
          <a:xfrm>
            <a:off x="9601200" y="37947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13</a:t>
            </a:r>
            <a:endParaRPr lang="en-US" sz="4400" dirty="0"/>
          </a:p>
        </p:txBody>
      </p:sp>
      <p:sp>
        <p:nvSpPr>
          <p:cNvPr id="24" name="stat-lbl-3"/>
          <p:cNvSpPr txBox="1"/>
          <p:nvPr/>
        </p:nvSpPr>
        <p:spPr>
          <a:xfrm>
            <a:off x="9738360" y="4709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ประเด็นรอยืนยัน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หลักการผังใหม่: BPMN User Flow ตาม swimlane-flow-template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86968" y="1325880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เริ่ม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2801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จุดเริ่มต้น วงกลม 74×74 พื้นขาวขอบดำ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67712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RES001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21945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ขั้นตอนงานของผู้ใช้ อยู่ใน Lane ของผู้ปฏิบัติจริง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08960"/>
            <a:ext cx="1188720" cy="713232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DEC-001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31089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จุดตัดสินใจ ทางออก "ใช่ / ไม่" (เดิมรหัส D)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6968" y="4069080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14223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40233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จุดต่อภาพ จับคู่ด้วยตัวอักษรเดียวกัน (ไป / จาก)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" y="4983480"/>
            <a:ext cx="603504" cy="603504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49377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จุดสิ้นสุด ทุกเส้นทางต้องจบที่นี่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1280160"/>
            <a:ext cx="52120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1417320"/>
            <a:ext cx="4800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กติกาที่ใช้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ไม่มี Lane ระบบ — เขียนขั้นตอนจากมุมผู้ใช้ เช่น "ตรวจสอบรายการ…"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สีเฉพาะแถบชื่อ Lane ตามตารางสีตำแหน่ง พื้นเลน/กล่องขาว เส้นดำทึบ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ป้าย ใช่/ไม่ ผูกกับเส้น ไม่ทับเส้นหรือกล่อง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ใช้ pattern กลุ่มภาพ + Link Event จากกิจกรรมที่ 8 เฉพาะรูปแบบ ไม่คัดลอกขั้นตอน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[รอยืนยัน Qn] = จุดที่ต้องให้เจ้าของกระบวนงานยืนยัน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จุดเปลี่ยนสำคัญและเหตุผล</a:t>
            </a:r>
            <a:endParaRPr lang="en-US" sz="2400" dirty="0"/>
          </a:p>
        </p:txBody>
      </p:sp>
      <p:sp>
        <p:nvSpPr>
          <p:cNvPr id="3" name="card-0"/>
          <p:cNvSpPr/>
          <p:nvPr/>
        </p:nvSpPr>
        <p:spPr>
          <a:xfrm>
            <a:off x="457200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Lane ระบบ → ผู้ปฏิบัติ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ย้าย 40 ขั้นตอนออกจาก Lane ระบบ ไปยังผู้ใช้ที่ทำจริง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คอมเมนต์ข้อ 2 + template</a:t>
            </a:r>
            <a:endParaRPr lang="en-US" sz="1200" dirty="0"/>
          </a:p>
        </p:txBody>
      </p:sp>
      <p:sp>
        <p:nvSpPr>
          <p:cNvPr id="7" name="card-1"/>
          <p:cNvSpPr/>
          <p:nvPr/>
        </p:nvSpPr>
        <p:spPr>
          <a:xfrm>
            <a:off x="4251960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417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 → DEC-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11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 จุดตัดสินใจ เปลี่ยนรหัสและระบุผู้ตัดสินใจ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คอมเมนต์ข้อ 3, Key Highlight 2</a:t>
            </a:r>
            <a:endParaRPr lang="en-US" sz="1200" dirty="0"/>
          </a:p>
        </p:txBody>
      </p:sp>
      <p:sp>
        <p:nvSpPr>
          <p:cNvPr id="11" name="card-2"/>
          <p:cNvSpPr/>
          <p:nvPr/>
        </p:nvSpPr>
        <p:spPr>
          <a:xfrm>
            <a:off x="8046720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17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Connector 54 → 34 วง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011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 Event จับคู่ A–H ชื่อไป/จากตรงกัน 100%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คอมเมนต์ข้อ 1</a:t>
            </a:r>
            <a:endParaRPr lang="en-US" sz="1200" dirty="0"/>
          </a:p>
        </p:txBody>
      </p:sp>
      <p:sp>
        <p:nvSpPr>
          <p:cNvPr id="15" name="card-3"/>
          <p:cNvSpPr/>
          <p:nvPr/>
        </p:nvSpPr>
        <p:spPr>
          <a:xfrm>
            <a:off x="457200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22 → 14 ภาพ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526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รวมช่วงงานที่ถูกตัดภาพ ลดการตามรอยข้ามภาพ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486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คอมเมนต์ข้อ 1</a:t>
            </a:r>
            <a:endParaRPr lang="en-US" sz="1200" dirty="0"/>
          </a:p>
        </p:txBody>
      </p:sp>
      <p:sp>
        <p:nvSpPr>
          <p:cNvPr id="19" name="card-4"/>
          <p:cNvSpPr/>
          <p:nvPr/>
        </p:nvSpPr>
        <p:spPr>
          <a:xfrm>
            <a:off x="4251960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แก้เส้นซ้อน / แตกกิ่ง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526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DEC-006/007 แยกทางเข้า, RES029–032 เรียงต่อกัน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5486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คอมเมนต์ข้อ 4.1–4.2</a:t>
            </a:r>
            <a:endParaRPr lang="en-US" sz="1200" dirty="0"/>
          </a:p>
        </p:txBody>
      </p:sp>
      <p:sp>
        <p:nvSpPr>
          <p:cNvPr id="23" name="card-5"/>
          <p:cNvSpPr/>
          <p:nvPr/>
        </p:nvSpPr>
        <p:spPr>
          <a:xfrm>
            <a:off x="8046720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3931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End Event ทุกเส้นทาง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526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ตรวจอัตโนมัติ 43 เส้นทาง ไม่มีโหนดลอย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5486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Key Highlight 3 + Tester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หน้า 1 ไต่สวนเบื้องต้น (RES001–RES032)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เดิม 8 ภาพ → ใหม่ 5 ภาพ  |  แต่ละช่วงแสดงภาพเดิมก่อน แล้วตามด้วยภาพใหม่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1.1 เลขาธิการให้ความเห็นและลงนาม (ไต่สวนเบื้องต้น) (1/2)</a:t>
            </a:r>
            <a:endParaRPr lang="en-US" sz="2400" dirty="0"/>
          </a:p>
        </p:txBody>
      </p:sp>
      <p:pic>
        <p:nvPicPr>
          <p:cNvPr id="3" name="ภาพเดิม 01" descr="ภาพเดิม 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4760" y="1051560"/>
            <a:ext cx="5232000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V1.0.2 - 01.png"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1.1 เลขาธิการให้ความเห็นและลงนาม (ไต่สวนเบื้องต้น) (2/2)</a:t>
            </a:r>
            <a:endParaRPr lang="en-US" sz="2400" dirty="0"/>
          </a:p>
        </p:txBody>
      </p:sp>
      <p:pic>
        <p:nvPicPr>
          <p:cNvPr id="3" name="ภาพเดิม 02" descr="ภาพเดิม 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1959" y="1051560"/>
            <a:ext cx="7157601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V1.0.2 - 02.png"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1.1 เลขาธิการให้ความเห็นและลงนาม (ไต่สวนเบื้องต้น)</a:t>
            </a:r>
            <a:endParaRPr lang="en-US" sz="2400" dirty="0"/>
          </a:p>
        </p:txBody>
      </p:sp>
      <p:pic>
        <p:nvPicPr>
          <p:cNvPr id="3" name="ภาพใหม่ 1-1" descr="ภาพใหม่ 1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717" y="1005840"/>
            <a:ext cx="9582086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26746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ย้ายทุกขั้นตอนออกจาก Lane ระบบ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314700" y="5943600"/>
            <a:ext cx="26746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รวม Part 1+2 ลด connector "ไป D03 / จาก D02"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5943600"/>
            <a:ext cx="26746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 → DEC-, Start/End ตาม template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029700" y="5943600"/>
            <a:ext cx="26746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DEC-001 อยู่ Lane ผู้ส่งเรื่อง [Q1]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1.2 คณะอนุกรรมการสนับสนุนเลขาธิการฯ พิจารณาสำนวนซับซ้อน</a:t>
            </a:r>
            <a:endParaRPr lang="en-US" sz="2400" dirty="0"/>
          </a:p>
        </p:txBody>
      </p:sp>
      <p:pic>
        <p:nvPicPr>
          <p:cNvPr id="3" name="ภาพเดิม 03" descr="ภาพเดิม 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376" y="1051560"/>
            <a:ext cx="8704769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V1.0.2 - 03.png"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1.2 คณะอนุกรรมการสนับสนุนเลขาธิการฯ พิจารณาสำนวนซับซ้อน</a:t>
            </a:r>
            <a:endParaRPr lang="en-US" sz="2400" dirty="0"/>
          </a:p>
        </p:txBody>
      </p:sp>
      <p:pic>
        <p:nvPicPr>
          <p:cNvPr id="3" name="ภาพใหม่ 1-2" descr="ภาพใหม่ 1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57690"/>
            <a:ext cx="11247120" cy="39883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RES009/010 ไปอยู่ Lane ผอ.กบค.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26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RES012 อยู่ Lane คณะอนุฯ สนับสนุน [Q2]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7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Link A/B จับคู่กับหน้า 1.1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1.3 คณะอนุกรรมการกลั่นกรองฯ พิจารณาเสนอมติ</a:t>
            </a:r>
            <a:endParaRPr lang="en-US" sz="2400" dirty="0"/>
          </a:p>
        </p:txBody>
      </p:sp>
      <p:pic>
        <p:nvPicPr>
          <p:cNvPr id="3" name="ภาพเดิม 04" descr="ภาพเดิม 0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7706" y="1051560"/>
            <a:ext cx="6226107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V1.0.2 - 04.png"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1.3 คณะอนุกรรมการกลั่นกรองฯ พิจารณาเสนอมติ</a:t>
            </a:r>
            <a:endParaRPr lang="en-US" sz="2400" dirty="0"/>
          </a:p>
        </p:txBody>
      </p:sp>
      <p:pic>
        <p:nvPicPr>
          <p:cNvPr id="3" name="ภาพใหม่ 1-3" descr="ภาพใหม่ 1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673" y="1005840"/>
            <a:ext cx="9514174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RES014 → ประธานฯ ตรวจสอบรายการ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26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Link C/D แทน "จาก D04 (ใช่/ไม่)"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7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RES017 อยู่ Lane คณะอนุฯ กลั่นกรอง [Q2]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1.4 ประธานกรรมการ ป.ป.ท. ลงนามบรรจุวาระการประชุม</a:t>
            </a:r>
            <a:endParaRPr lang="en-US" sz="2400" dirty="0"/>
          </a:p>
        </p:txBody>
      </p:sp>
      <p:pic>
        <p:nvPicPr>
          <p:cNvPr id="3" name="ภาพเดิม 05" descr="ภาพเดิม 0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127" y="1051560"/>
            <a:ext cx="6637265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V1.0.2 - 05.png"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1.4 ประธานกรรมการ ป.ป.ท. ลงนามบรรจุวาระการประชุม</a:t>
            </a:r>
            <a:endParaRPr lang="en-US" sz="2400" dirty="0"/>
          </a:p>
        </p:txBody>
      </p:sp>
      <p:pic>
        <p:nvPicPr>
          <p:cNvPr id="3" name="ภาพใหม่ 1-4" descr="ภาพใหม่ 1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391" y="1005840"/>
            <a:ext cx="9712738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RES019 → ประธานฯ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26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RES021 → กลุ่มงานคำวินิจฉัยฯ [Q2]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7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รับเข้า 2 ทางคนละด้าน ไม่ใช้เส้นรวม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1.5 คณะกรรมการ ป.ป.ท. พิจารณารายงานไต่สวนเบื้องต้น (1/3)</a:t>
            </a:r>
            <a:endParaRPr lang="en-US" sz="2400" dirty="0"/>
          </a:p>
        </p:txBody>
      </p:sp>
      <p:pic>
        <p:nvPicPr>
          <p:cNvPr id="3" name="ภาพเดิม 06" descr="ภาพเดิม 0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2904" y="1051560"/>
            <a:ext cx="6535711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V1.0.2 - 06.png"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1.5 คณะกรรมการ ป.ป.ท. พิจารณารายงานไต่สวนเบื้องต้น (2/3)</a:t>
            </a:r>
            <a:endParaRPr lang="en-US" sz="2400" dirty="0"/>
          </a:p>
        </p:txBody>
      </p:sp>
      <p:pic>
        <p:nvPicPr>
          <p:cNvPr id="3" name="ภาพเดิม 07" descr="ภาพเดิม 0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2904" y="1051560"/>
            <a:ext cx="6535711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V1.0.2 - 07.png"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1.5 คณะกรรมการ ป.ป.ท. พิจารณารายงานไต่สวนเบื้องต้น (3/3)</a:t>
            </a:r>
            <a:endParaRPr lang="en-US" sz="2400" dirty="0"/>
          </a:p>
        </p:txBody>
      </p:sp>
      <p:pic>
        <p:nvPicPr>
          <p:cNvPr id="3" name="ภาพเดิม 08" descr="ภาพเดิม 0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836" y="1051560"/>
            <a:ext cx="9933847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V1.0.2 - 08.png"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1.5 คณะกรรมการ ป.ป.ท. พิจารณารายงานไต่สวนเบื้องต้น</a:t>
            </a:r>
            <a:endParaRPr lang="en-US" sz="2400" dirty="0"/>
          </a:p>
        </p:txBody>
      </p:sp>
      <p:pic>
        <p:nvPicPr>
          <p:cNvPr id="3" name="ภาพใหม่ 1-5" descr="ภาพใหม่ 1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180" y="1005840"/>
            <a:ext cx="9515161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รวม 3 Part เป็นภาพเดียว ตัด "ไป D006"/"ไป RES029"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26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แยกเส้น DEC-006 ใช่ / DEC-007 ไม่ (ข้อ 4.1)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7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RES029→030→031→032 เรียงต่อกัน (ข้อ 4.2)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หน้า 2 ไต่สวนวินิจฉัยชี้มูล (RES101–RES134)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เดิม 9 ภาพ → ใหม่ 6 ภาพ  |  แต่ละช่วงแสดงภาพเดิมก่อน แล้วตามด้วยภาพใหม่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2.1 เลขาธิการให้ความเห็นและลงนาม (ไต่สวนชี้มูล) (1/2)</a:t>
            </a:r>
            <a:endParaRPr lang="en-US" sz="2400" dirty="0"/>
          </a:p>
        </p:txBody>
      </p:sp>
      <p:pic>
        <p:nvPicPr>
          <p:cNvPr id="3" name="ภาพเดิม 09" descr="ภาพเดิม 0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4760" y="1051560"/>
            <a:ext cx="5232000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V1.0.2 - 09.png"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2.1 เลขาธิการให้ความเห็นและลงนาม (ไต่สวนชี้มูล) (2/2)</a:t>
            </a:r>
            <a:endParaRPr lang="en-US" sz="2400" dirty="0"/>
          </a:p>
        </p:txBody>
      </p:sp>
      <p:pic>
        <p:nvPicPr>
          <p:cNvPr id="3" name="ภาพเดิม 10" descr="ภาพเดิม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7816" y="1051560"/>
            <a:ext cx="7465888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V1.0.2 - 10.png"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2.1 เลขาธิการให้ความเห็นและลงนาม (ไต่สวนชี้มูล)</a:t>
            </a:r>
            <a:endParaRPr lang="en-US" sz="2400" dirty="0"/>
          </a:p>
        </p:txBody>
      </p:sp>
      <p:pic>
        <p:nvPicPr>
          <p:cNvPr id="3" name="ภาพใหม่ 2-1" descr="ภาพใหม่ 2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606" y="1005840"/>
            <a:ext cx="8414309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รูปแบบเดียวกับ 1.1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26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RES107 ชื่อตามตาราง 2.2.1.2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7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DEC-101 [Q1]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2.2 คณะอนุกรรมการสนับสนุนเลขาธิการฯ พิจารณาสำนวนซับซ้อน</a:t>
            </a:r>
            <a:endParaRPr lang="en-US" sz="2400" dirty="0"/>
          </a:p>
        </p:txBody>
      </p:sp>
      <p:pic>
        <p:nvPicPr>
          <p:cNvPr id="3" name="ภาพเดิม 11" descr="ภาพเดิม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376" y="1051560"/>
            <a:ext cx="8704769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V1.0.2 - 11.png"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2.2 คณะอนุกรรมการสนับสนุนเลขาธิการฯ พิจารณาสำนวนซับซ้อน</a:t>
            </a:r>
            <a:endParaRPr lang="en-US" sz="2400" dirty="0"/>
          </a:p>
        </p:txBody>
      </p:sp>
      <p:pic>
        <p:nvPicPr>
          <p:cNvPr id="3" name="ภาพใหม่ 2-2" descr="ภาพใหม่ 2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57690"/>
            <a:ext cx="11247120" cy="39883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1124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รูปแบบเดียวกับ 1.2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2.3 ประธานกรรมการ ป.ป.ท. ลงรับและคัดกรองสำนวน (1/2)</a:t>
            </a:r>
            <a:endParaRPr lang="en-US" sz="2400" dirty="0"/>
          </a:p>
        </p:txBody>
      </p:sp>
      <p:pic>
        <p:nvPicPr>
          <p:cNvPr id="3" name="ภาพเดิม 12" descr="ภาพเดิม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7816" y="1051560"/>
            <a:ext cx="7465888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V1.0.2 - 12.png"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2.3 ประธานกรรมการ ป.ป.ท. ลงรับและคัดกรองสำนวน (2/2)</a:t>
            </a:r>
            <a:endParaRPr lang="en-US" sz="2400" dirty="0"/>
          </a:p>
        </p:txBody>
      </p:sp>
      <p:pic>
        <p:nvPicPr>
          <p:cNvPr id="3" name="ภาพเดิม 13" descr="ภาพเดิม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127" y="1051560"/>
            <a:ext cx="6637265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V1.0.2 - 13.png"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2.3 ประธานกรรมการ ป.ป.ท. ลงรับและคัดกรองสำนวน</a:t>
            </a:r>
            <a:endParaRPr lang="en-US" sz="2400" dirty="0"/>
          </a:p>
        </p:txBody>
      </p:sp>
      <p:pic>
        <p:nvPicPr>
          <p:cNvPr id="3" name="ภาพใหม่ 2-3" descr="ภาพใหม่ 2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8167" y="1005840"/>
            <a:ext cx="7325186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รวม Part ประธานฯ คัดกรอง + กลุ่มงานกิจการ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26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DEC-104 คงทิศทางเดิม [Q3]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077200" y="5943600"/>
            <a:ext cx="36271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RES115 ชื่อตามตาราง [Q12]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2.4 ประธานกรรมการ ป.ป.ท. ลงนามบรรจุวาระการประชุม</a:t>
            </a:r>
            <a:endParaRPr lang="en-US" sz="2400" dirty="0"/>
          </a:p>
        </p:txBody>
      </p:sp>
      <p:pic>
        <p:nvPicPr>
          <p:cNvPr id="3" name="ภาพเดิม 14" descr="ภาพเดิม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9020" y="1051560"/>
            <a:ext cx="4983480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V1.0.2 - 14.png"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2.4 ประธานกรรมการ ป.ป.ท. ลงนามบรรจุวาระการประชุม</a:t>
            </a:r>
            <a:endParaRPr lang="en-US" sz="2400" dirty="0"/>
          </a:p>
        </p:txBody>
      </p:sp>
      <p:pic>
        <p:nvPicPr>
          <p:cNvPr id="3" name="ภาพใหม่ 2-4" descr="ภาพใหม่ 2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017" y="1005840"/>
            <a:ext cx="7835486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รับเข้า 3 ทาง (D, E, F) คนละด้านของ RES121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172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ตัด Lane ระบบ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2.5 คณะกรรมการ ป.ป.ท. พิจารณารายงานไต่สวนวินิจฉัยชี้มูล (1/2)</a:t>
            </a:r>
            <a:endParaRPr lang="en-US" sz="2400" dirty="0"/>
          </a:p>
        </p:txBody>
      </p:sp>
      <p:pic>
        <p:nvPicPr>
          <p:cNvPr id="3" name="ภาพเดิม 15" descr="ภาพเดิม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127" y="1051560"/>
            <a:ext cx="6637265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V1.0.2 - 15.png"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2.5 คณะกรรมการ ป.ป.ท. พิจารณารายงานไต่สวนวินิจฉัยชี้มูล (2/2)</a:t>
            </a:r>
            <a:endParaRPr lang="en-US" sz="2400" dirty="0"/>
          </a:p>
        </p:txBody>
      </p:sp>
      <p:pic>
        <p:nvPicPr>
          <p:cNvPr id="3" name="ภาพเดิม 16" descr="ภาพเดิม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7156" y="1051560"/>
            <a:ext cx="4487208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V1.0.2 - 16.png"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2.5 คณะกรรมการ ป.ป.ท. พิจารณารายงานไต่สวนวินิจฉัยชี้มูล</a:t>
            </a:r>
            <a:endParaRPr lang="en-US" sz="2400" dirty="0"/>
          </a:p>
        </p:txBody>
      </p:sp>
      <p:pic>
        <p:nvPicPr>
          <p:cNvPr id="3" name="ภาพใหม่ 2-5" descr="ภาพใหม่ 2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6027"/>
            <a:ext cx="11247120" cy="411166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รวม Part 1–2; DEC-105 ใช่ → Link 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172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RES129 จบที่ End Event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2.6 จัดทำรายงานวินิจฉัยชี้มูลและดำเนินการทางวินัย (1/2)</a:t>
            </a:r>
            <a:endParaRPr lang="en-US" sz="2400" dirty="0"/>
          </a:p>
        </p:txBody>
      </p:sp>
      <p:pic>
        <p:nvPicPr>
          <p:cNvPr id="3" name="ภาพเดิม 16" descr="ภาพเดิม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7156" y="1051560"/>
            <a:ext cx="4487208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V1.0.2 - 16.png"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2.6 จัดทำรายงานวินิจฉัยชี้มูลและดำเนินการทางวินัย (2/2)</a:t>
            </a:r>
            <a:endParaRPr lang="en-US" sz="2400" dirty="0"/>
          </a:p>
        </p:txBody>
      </p:sp>
      <p:pic>
        <p:nvPicPr>
          <p:cNvPr id="3" name="ภาพเดิม 17" descr="ภาพเดิม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9020" y="1051560"/>
            <a:ext cx="4983480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V1.0.2 - 17.png"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2.6 จัดทำรายงานวินิจฉัยชี้มูลและดำเนินการทางวินัย</a:t>
            </a:r>
            <a:endParaRPr lang="en-US" sz="2400" dirty="0"/>
          </a:p>
        </p:txBody>
      </p:sp>
      <p:pic>
        <p:nvPicPr>
          <p:cNvPr id="3" name="ภาพใหม่ 2-6" descr="ภาพใหม่ 2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9884"/>
            <a:ext cx="11247120" cy="4743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DEC-106 สายอาญา → สิ้นสุด ทำเครื่องหมาย [Q5] (ข้อ 4.3)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172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RES133 → RES134 ใน Lane กลุ่มงานกิจการ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หน้า 3 มติเรื่องทั่วไป (RES201–RES218)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เดิม 5 ภาพ → ใหม่ 3 ภาพ  |  แต่ละช่วงแสดงภาพเดิมก่อน แล้วตามด้วยภาพใหม่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3.1 เลขาธิการให้ความเห็นและลงนาม – มติเรื่องทั่วไป</a:t>
            </a:r>
            <a:endParaRPr lang="en-US" sz="2400" dirty="0"/>
          </a:p>
        </p:txBody>
      </p:sp>
      <p:pic>
        <p:nvPicPr>
          <p:cNvPr id="3" name="ภาพเดิม 18" descr="ภาพเดิม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7524" y="1051560"/>
            <a:ext cx="3326473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V1.0.2 - 18.png"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3.1 เลขาธิการให้ความเห็นและลงนาม – มติเรื่องทั่วไป</a:t>
            </a:r>
            <a:endParaRPr lang="en-US" sz="2400" dirty="0"/>
          </a:p>
        </p:txBody>
      </p:sp>
      <p:pic>
        <p:nvPicPr>
          <p:cNvPr id="3" name="ภาพใหม่ 3-1" descr="ภาพใหม่ 3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0360" y="1005840"/>
            <a:ext cx="5840799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ตัด Lane ระบบ, DEC-201 [Q1]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172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RES204 [Q9]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3.2 ประธานกรรมการ ป.ป.ท. สั่งการและบรรจุวาระ (1/2)</a:t>
            </a:r>
            <a:endParaRPr lang="en-US" sz="2400" dirty="0"/>
          </a:p>
        </p:txBody>
      </p:sp>
      <p:pic>
        <p:nvPicPr>
          <p:cNvPr id="3" name="ภาพเดิม 19" descr="ภาพเดิม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836" y="1051560"/>
            <a:ext cx="9933847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V1.0.2 - 19.png"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3.2 ประธานกรรมการ ป.ป.ท. สั่งการและบรรจุวาระ (2/2)</a:t>
            </a:r>
            <a:endParaRPr lang="en-US" sz="2400" dirty="0"/>
          </a:p>
        </p:txBody>
      </p:sp>
      <p:pic>
        <p:nvPicPr>
          <p:cNvPr id="3" name="ภาพเดิม 20" descr="ภาพเดิม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127" y="1051560"/>
            <a:ext cx="6637265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V1.0.2 - 20.png"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3.2 ประธานกรรมการ ป.ป.ท. สั่งการและบรรจุวาระ</a:t>
            </a:r>
            <a:endParaRPr lang="en-US" sz="2400" dirty="0"/>
          </a:p>
        </p:txBody>
      </p:sp>
      <p:pic>
        <p:nvPicPr>
          <p:cNvPr id="3" name="ภาพใหม่ 3-2" descr="ภาพใหม่ 3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6027"/>
            <a:ext cx="11247120" cy="411166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รวม Part มอบหมาย/สั่งการ + บรรจุวาระ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172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RES207 → ประธานฯ (ข้อ 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3.3 คณะกรรมการ ป.ป.ท. ประชุมพิจารณาวาระเรื่องทั่วไป (1/2)</a:t>
            </a:r>
            <a:endParaRPr lang="en-US" sz="2400" dirty="0"/>
          </a:p>
        </p:txBody>
      </p:sp>
      <p:pic>
        <p:nvPicPr>
          <p:cNvPr id="3" name="ภาพเดิม 21" descr="ภาพเดิม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127" y="1051560"/>
            <a:ext cx="6637265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V1.0.2 - 21.png"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เดิม V1.0.2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3.3 คณะกรรมการ ป.ป.ท. ประชุมพิจารณาวาระเรื่องทั่วไป (2/2)</a:t>
            </a:r>
            <a:endParaRPr lang="en-US" sz="2400" dirty="0"/>
          </a:p>
        </p:txBody>
      </p:sp>
      <p:pic>
        <p:nvPicPr>
          <p:cNvPr id="3" name="ภาพเดิม 22" descr="ภาพเดิม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182" y="1051560"/>
            <a:ext cx="9909157" cy="4983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ภาพเดิม "กิจกรรมที่ 7 User Flow V1.0.2 - 22.png"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ใหม่ V1.0.3  </a:t>
            </a:r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3.3 คณะกรรมการ ป.ป.ท. ประชุมพิจารณาวาระเรื่องทั่วไป</a:t>
            </a:r>
            <a:endParaRPr lang="en-US" sz="2400" dirty="0"/>
          </a:p>
        </p:txBody>
      </p:sp>
      <p:pic>
        <p:nvPicPr>
          <p:cNvPr id="3" name="ภาพใหม่ 3-3" descr="ภาพใหม่ 3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77" y="1005840"/>
            <a:ext cx="11074566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EEF3F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รวม Part ตัด "ไป D206 / จาก RES215" (ข้อ 1)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172200" y="5943600"/>
            <a:ext cx="5532120" cy="438912"/>
          </a:xfrm>
          <a:prstGeom prst="roundRect">
            <a:avLst>
              <a:gd name="adj" fmla="val 16667"/>
            </a:avLst>
          </a:prstGeom>
          <a:solidFill>
            <a:srgbClr val="FBE5D6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DEC-203 คงทิศทางเดิม [Q4]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ประเด็นรอยืนยันและข้อจำกัด (1/2)</a:t>
            </a:r>
            <a:endParaRPr lang="en-US" sz="2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206240"/>
                <a:gridCol w="3840480"/>
                <a:gridCol w="2468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ประเด็น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ผู้ยืนยัน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ใครเป็นผู้ส่งเรื่องและเลือกแนบใบด่วน (DEC-001/101/201)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Lane ใหม่ 1 Lane ต่อหน้า; ตาราง 2.2 แถว DEC-001/101/201 ยังระบุ "การตัดสินใจ"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BA + เจ้าของกระบวนงาน (กองบริหารคดี / ผู้ใช้ กจ.5)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ขั้นตอนจัดทำเอกสาร 17 ขั้นตอน ใครเป็นผู้ปฏิบัติ หรือเป็นงานอัตโนมัติ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ถ้าเป็นงานอัตโนมัติ ต้องรวมเป็นส่วนหนึ่งของขั้นตอนผู้ใช้ก่อน/หลังแทน; ตาราง 2.2 แถวเหล่านี้ยังเป็น "ระบบ E-CMIS"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SA + เจ้าของกระบวนงานแต่ละกลุ่มงาน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DEC-104 "ซับซ้อนยุ่งยาก?" ทางออกใช่/ไม่ สลับกันระหว่างภาพกับตาราง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เส้นทางหลักของสำนวนชี้มูลอาจผิด; ร่างนี้คงตามภาพเดิม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เจ้าของกระบวนงาน กองบริหารคดี / ประธานฯ + BA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DEC-203 "มติอื่นๆ?" ทางออกใช่/ไม่ สลับกันระหว่างภาพกับตาราง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การออกคำสั่งแต่งตั้งผู้ไต่สวนในมติเรื่องทั่วไปอาจผิดเส้นทาง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กลุ่มงานคำวินิจฉัยและมติคณะกรรมการ + BA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DEC-106 สายอาญา "ใช่" จบทันที — ต้องมีขั้นตอนบันทึก/ส่งต่อก่อนจบหรือไม่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อาจต้องเพิ่มขั้นตอน + รหัส RES ใหม่ + หน้าจอ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กองบริหารคดี (กลุ่มงานกิจการคณะกรรมการ) + BA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แนวทาง Lane ระบบ / System Action / Status Flag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หากผู้ตรวจรับยืนยันให้แสดงสถานะ เสนอให้ทำเป็นตารางสถานะ/State แยก หรืออ้างอิงใน DFD บทที่ 3 แทนการใส่ใน User Flow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PM + คณะกรรมการตรวจรับ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สีแถบ Lane "คณะกรรมการ ป.ป.ท."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เปลี่ยนสีได้ทันทีหลังยืนยัน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ผู้ดูแล template / PM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ประเด็นรอยืนยันและข้อจำกัด (2/2)</a:t>
            </a:r>
            <a:endParaRPr lang="en-US" sz="2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206240"/>
                <a:gridCol w="3840480"/>
                <a:gridCol w="2468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รหัส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ประเด็น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ผลกระทบ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ผู้ยืนยัน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RES006/RES106 ส่งสำนวนกลับ กจ.5 แล้วสิ้นสุด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อาจต้องเพิ่มเส้นวนกลับ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BA + เจ้าของกระบวนงาน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RES204 "พิจารณาความซับซ้อนยุ่งยากของสำนวน" ในมติเรื่องทั่วไป ไม่มีจุดตัดสินใจตามมา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อาจต้องเพิ่ม Gateway หรือปรับชื่อขั้นตอน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BA + เจ้าของกระบวนงาน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ชื่อหัวข้อ 2.1.1.3 ไม่ตรงกับเนื้อหา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ยังไม่แก้ชื่อหัวข้อ/คำบรรยายภาพ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BA / ผู้จัดทำเล่ม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Q11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ผัง 2.1.3 ค้นหาและกรองข้อมูล / 2.1.4 แสดงผลข้อมูล (RES053–RES055)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ยังไม่แก้ภาพ 2.1.3, 2.1.4 และตาราง 2.2.3, 2.2.4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BA + SA (ระบุกลุ่มผู้ใช้และไฟล์ต้นฉบับ)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Q12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ชื่อขั้นตอน RES115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ชื่อหน้าจอ/สิทธิ์ของ RES115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BA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</a:rPr>
                        <a:t>Q13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SLA ตาราง 2.2.1.1 = "ไม่เกิน 30 วัน" ขณะตารางอื่น = 15 วัน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แจ้งเพื่อทราบ ไม่ได้แก้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</a:rPr>
                        <a:t>BA / PM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ผลตรวจทุกเส้นทาง (Tester): 0 ข้อบกพร่องค้าง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21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เส้นทาง หน้า 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3258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เส้นทาง หน้า 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3258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เส้นทาง หน้า 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61120" y="123444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0" y="13258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17/17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คู่ Link ตรงกัน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สิ่งที่ตรวจ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ทุกโหนดเข้าถึงได้จากจุดเริ่ม และไปถึงจุดสิ้นสุดได้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Gateway ทุกจุดมีทางออก ใช่/ไม่ ครบ และข้อความลงท้าย 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ไม่มีกล่องลอย ไม่มีรหัสซ้ำ ไม่มี Lane ระบบ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ตรวจภาพ export ด้วยตา: ข้อความไม่ทับเส้น อ่านชื่อ Lane ได้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29184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ข้อบกพร่องที่พบระหว่างทดสอบและแก้แล้ว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ข้อความใน Gateway ล้นขอบ → ขยายกล่อง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ชื่อ Lane ถูกตัด → เพิ่มความสูง Lane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ป้าย Link F ถูกเส้นทับ → ย้ายป้ายขึ้นด้านบน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ข้อความ RES018/RES028 ถูกย่อ → คืนข้อความตามเล่ม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ขั้นตอนถัดไป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1) PM ยืนยันแนวทาง Lane ระบบกับผู้ตรวจรับ (Q6)   2) BA ยืนยัน Q1–Q5, Q8–Q12 กับเจ้าของกระบวนงาน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3) ปรับภาพ/ตาราง 2.2 ตามคำตอบ แล้วลบเครื่องหมาย [รอยืนยัน]   4) SA, BA, PM, Tester ลงนามในบันทึก 1791976367965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-CMIS Userflow">
  <a:themeElements>
    <a:clrScheme name="E-CMIS Userflow">
      <a:dk1>
        <a:srgbClr val="1B2A3A"/>
      </a:dk1>
      <a:lt1>
        <a:srgbClr val="FFFFFF"/>
      </a:lt1>
      <a:dk2>
        <a:srgbClr val="1F4E79"/>
      </a:dk2>
      <a:lt2>
        <a:srgbClr val="EEF3F8"/>
      </a:lt2>
      <a:accent1>
        <a:srgbClr val="1F4E79"/>
      </a:accent1>
      <a:accent2>
        <a:srgbClr val="C55A11"/>
      </a:accent2>
      <a:accent3>
        <a:srgbClr val="5B9BD5"/>
      </a:accent3>
      <a:accent4>
        <a:srgbClr val="70AD47"/>
      </a:accent4>
      <a:accent5>
        <a:srgbClr val="7F7F7F"/>
      </a:accent5>
      <a:accent6>
        <a:srgbClr val="D6E4F0"/>
      </a:accent6>
      <a:hlink>
        <a:srgbClr val="1F4E79"/>
      </a:hlink>
      <a:folHlink>
        <a:srgbClr val="7F7F7F"/>
      </a:folHlink>
    </a:clrScheme>
    <a:fontScheme name="E-CMIS Userflow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สรุปการปรับแก้ User Flow กิจกรรมที่ 7 (V1.0.2 → V1.0.3)</dc:title>
  <dc:subject>PptxGenJS Presentation</dc:subject>
  <dc:creator>กิจการค้าร่วม SS CONSORTIUM (ร่างโดย Claude)</dc:creator>
  <cp:lastModifiedBy>กิจการค้าร่วม SS CONSORTIUM (ร่างโดย Claude)</cp:lastModifiedBy>
  <cp:revision>1</cp:revision>
  <dcterms:created xsi:type="dcterms:W3CDTF">2026-10-26T04:59:23Z</dcterms:created>
  <dcterms:modified xsi:type="dcterms:W3CDTF">2026-10-26T04:59:23Z</dcterms:modified>
</cp:coreProperties>
</file>
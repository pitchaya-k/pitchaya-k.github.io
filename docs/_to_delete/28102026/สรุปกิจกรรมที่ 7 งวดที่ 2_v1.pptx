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</p:sldIdLst>
  <p:notesMasterIdLst>
    <p:notesMasterId r:id="rId1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notesMaster" Target="notesMasters/notesMaster1.xml"/><Relationship Id="rId152" Type="http://schemas.openxmlformats.org/officeDocument/2006/relationships/presProps" Target="presProps.xml"/><Relationship Id="rId153" Type="http://schemas.openxmlformats.org/officeDocument/2006/relationships/viewProps" Target="viewProps.xml"/><Relationship Id="rId154" Type="http://schemas.openxmlformats.org/officeDocument/2006/relationships/theme" Target="theme/theme1.xml"/><Relationship Id="rId1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สวัสดีครับ/ค่ะ วันนี้จะนำเสนอสรุปการออกแบบระบบงวดที่ 2 ของกิจกรรมที่ 7 คือระบบบริหารจัดการกระบวนงานพิจารณาและดำเนินการตามมติคณะกรรมการ ป.ป.ท. ระบบนี้ดูแลช่วงงานตั้งแต่รายงานการไต่สวนถูกเสนอเข้ามา ผ่านการกลั่นกรอง บรรจุวาระ ลงมติ จนถึงการออกคำสั่งและส่งเรื่องดำเนินการตามมติ เนื้อหาอ้างอิงเล่ม 4 ฉบับ V1.4, User Flow V1.0.4 และโครงหัวข้อ Process บทที่ 2 ฉบับปรับปรุงวันที่ 27 ตุลาคม 2569
[มุมธุรกิจ] ระบบนี้คือ "เส้นทางของเรื่อง" จากโต๊ะเลขาธิการถึงมติคณะกรรมการและการดำเนินการตามมติ
[มุม IT] ขอบเขตครอบคลุม 4 ระบบงาน 23 หน้าจอ (RES-1 ถึง RES-23) และเชื่อมต่อระบบภายนอก 2 ระบบ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การนำเสนอแบ่งเป็น 5 ส่วนตามโครงเล่ม 4 ส่วนที่ 1 User Flow เล่าว่าใครทำอะไร ในลำดับใด ส่วนที่ 2 Context Diagram บอกว่าระบบคุยกับใครบ้าง ส่วนที่ 3 Data Flow Diagram บอกว่าข้อมูลไหลผ่านกระบวนการใดและเก็บที่ไหน ส่วนที่ 4–5 คือหน้าจอ Wireframe และข้อกำหนด Prototype ที่จะใช้พัฒนาจริง
[มุมธุรกิจ] ส่วนที่ 1 และ 4 ตอบคำถาม "งานเดินอย่างไร หน้าจอหน้าตาแบบไหน"
[มุม IT] ส่วนที่ 3 และ 5 ตอบคำถาม "ข้อมูลเก็บที่ไหน หน้าจอใช้ Page Code อะไร"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ระบบนี้มี 4 ระบบงานตามขอบเขต TOR เมื่อนำมาจัดเป็นกระบวนการทำงานจริงได้ 8 กระบวนการหลัก Process 1–4 เป็นช่วงก่อนประชุมคณะกรรมการ Process 5–7 เป็นช่วงหลังประชุม และ Process 8 เป็นงานค้นหาและรายงานที่ใช้ได้ทุกช่วง ระบบเชื่อมต่อ 2 ระบบ คือระบบกระบวนการดำเนินงานกล่าวหาร้องเรียนของสำนักงาน ป.ป.ท. และระบบสารบรรณอิเล็กทรอนิกส์
[มุมธุรกิจ] ใช้สไลด์นี้ปักหมุดว่า "ก่อนประชุม / หลังประชุม / ใช้ได้ทุกช่วง"
[มุม IT] ระบบงาน 4 ระบบยังเป็นโครงหัวข้อบทที่ 4–5 ส่วนบทที่ 2 จัดใหม่ตาม Process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เริ่มส่วนที่ 1 User Flow ส่วนนี้ปรับโครงหัวข้อใหม่จากเดิมที่แบ่งตามระบบงานและประเภทเรื่อง มาเป็นการแบ่งตามช่วงงานจริงของเรื่อง 8 กระบวนการ ให้ผู้อ่านเห็นเส้นทางของเรื่องต่อเนื่องเป็นภาพเดียว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ตารางนี้คือโครง 8 กระบวนการหลัก ตั้งชื่อแบบ "กริยา + ผลลัพธ์" เพื่อให้อ่านแล้วรู้ว่าช่วงนี้ทำอะไร และระบุว่าแต่ละกระบวนการอยู่ในระบบงานใด ทั้งหมดแตกเป็น 26 กระบวนการย่อย และอ้างรหัสขั้นตอน RES/DEC จาก User Flow V1.0.4 โดยไม่เพิ่มขั้นตอนใหม่
[มุมธุรกิจ] 8 ช่วงงานนี้คือภาษากลางที่จะใช้คุยกันตลอดโครงการ
[มุม IT] รหัส RES = ขั้นตอนงาน, DEC = จุดตัดสินใจ — ใช้เป็น trace key ไปยัง DFD และหน้าจอ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หัวข้อ 1.1 เป็นภาพใหม่ที่เสนอเพิ่มในเล่ม ประกอบจากขั้นตอนเดิมทั้งหมด ไม่ได้เพิ่มขั้นตอนงาน ใช้เป็นแผนที่ก่อนลงรายละเอียดแต่ละกระบวนการ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ภาพนี้อ่านจากบนลงล่าง เส้นหลักคือ 1 ไป 3 ไป 4 ไป 5 แล้วแยกเป็น 6 หรือ 7 ตามผลมติ มีเส้นแยกสำคัญ 4 จุด คือ สำนวนซับซ้อนไปกลั่นกรองที่ Process 2 แล้ววนกลับ สำนวนที่มีใบด่วนข้ามการกลั่นกรองไปบรรจุวาระเลย สำนวนเร่งด่วนที่ไม่มีใบด่วนถูกส่งกลับไปแนบใบด่วน และเรื่องทั่วไปที่ประธานสั่งการได้จะจบที่ Process 3 เส้นประด้านล่างคือจุดที่ระบบขอเลขคำสั่งและเลขหนังสือจากระบบสารบรรณอิเล็กทรอนิกส์
[มุมธุรกิจ] ชี้ให้เห็นว่าเรื่องด่วนและเรื่องซับซ้อนมีเส้นทางพิเศษ
[มุม IT] เส้นประ = integration point (ระบบสารบรรณ / ระบบกล่าวหาร้องเรียน)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เรื่องที่เข้าระบบมี 3 ประเภท คือรายงานไต่สวนเบื้องต้น รายงานไต่สวนเพื่อวินิจฉัยชี้มูล และมติเรื่องทั่วไป ทั้งสามประเภทเดินขั้นตอนเกือบเหมือนกัน จึงไม่แยกเป็นคนละกระบวนการ แต่ใช้ประเภทเรื่องเป็นเงื่อนไขบนเส้นทาง ส่วนที่ต่างกันจริงแยกเป็นกระบวนการย่อย เช่น สำนวนกองปราบ การคัดกรองสำนวนชี้มูล และการมอบหมายสั่งการเรื่องทั่วไป
[มุมธุรกิจ] ผู้ใช้เรียนรู้ขั้นตอนเดียวใช้ได้ทั้ง 3 ประเภทเรื่อง
[มุม IT] ประเภทเรื่องเป็น attribute ของรายการขอมติ (tbl_res_request) ไม่ใช่ workflow แยก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1 คือประตูเข้าของระบบ ผู้รับผิดชอบสำนวนหรือผู้เสนอเรื่องส่งรายงานเข้ามา ถ้าแนบใบด่วนมาแล้ว ผอ.กองบริหารคดีลงความเห็นและเลขาธิการลงนามใบด่วน แล้วไปบรรจุวาระได้เลย ถ้าไม่มีใบด่วน เลขาธิการพิจารณาว่าสำนวนซับซ้อนหรือไม่ ซับซ้อนส่งไป Process 2 เร่งด่วนแต่ไม่มีใบด่วนส่งกลับไปแนบ กรณีปกติเลขาธิการให้ความเห็นและลงนามแล้วส่งต่อ Process 3
[มุมธุรกิจ] จุดตัดสินใจหลักของเลขาธิการฯ อยู่ที่นี่: ซับซ้อน / ด่วน / ปกติ
[มุม IT] DEC-001/002/003/004 กำหนด state transition ของรายการขอมติในช่วงแรก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ตารางนี้แตก Process 1 เป็นกระบวนการย่อย พร้อมรหัสขั้นตอนใน User Flow ผู้ปฏิบัติ และจุดที่เรื่องไปต่อ DEC-001/002/003/004 กำหนด state transition ของรายการขอมติในช่วงแรก
[มุมธุรกิจ] อ่านคอลัมน์ผู้ปฏิบัติและไปต่อ
[มุม IT] อ่านคอลัมน์รหัสขั้นตอน ใช้ trace ไปหน้าจอและ DFD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ผังนี้คือเส้นทางรายงานการไต่สวนเบื้องต้นของ Process 1 ไล่ตาม Lane จากซ้ายไปขวา จุดสำคัญคือ DEC-001 แนบใบด่วนมาแล้ว? ใช่ → ผอ.กบค. (RES002–003) / DEC-002 ซับซ้อน? ใช่ → ส่งคณะอนุกรรมการสนับสนุนฯ (RES005) / DEC-003 เร่งด่วน? ใช่ → ส่งกลับแนบใบด่วน (RES006) / RES007 เลขาธิการฯ ให้ความเห็นและลงนาม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ผังนี้คือเส้นทางรายงานการไต่สวนเพื่อวินิจฉัยชี้มูลของ Process 1 ไล่ตาม Lane จากซ้ายไปขวา จุดสำคัญคือ โครงเดียวกับรายงานไต่สวนเบื้องต้น (RES101–108) / DEC-102 / DEC-103 ซับซ้อน / เร่งด่วน / RES107 ให้ความเห็นและลงนาม → ประธานฯ (RES114) / ไม่มีเส้นทางสำนวนกองปราบ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ผังนี้คือเส้นทางมติเรื่องทั่วไปของ Process 1 ไล่ตาม Lane จากซ้ายไปขวา จุดสำคัญคือ DEC-201 แนบใบด่วนมาแล้ว? / RES201 ตรวจสอบรายการมติเรื่องทั่วไป / RES202–203 ผอ.กบค. ตรวจรายการด่วน/ลงความเห็น / RES204 พิจารณาความซับซ้อน → ส่งประธานฯ (RES206)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2 ใช้เฉพาะสำนวนที่เลขาธิการเห็นว่าซับซ้อนยุ่งยาก ผอ.กองบริหารคดีจัดทำใบบันทึกซับซ้อนและจ่ายงานให้คณะอนุกรรมการสนับสนุนเลขาธิการฯ คณะอนุกรรมการกลั่นกรองแล้วส่งความเห็นกลับไปให้เลขาธิการให้ความเห็นและลงนามที่ขั้น 1.5 เป็นลูปวนกลับ ไม่ได้ไปต่อข้างหน้าโดยตรง
[มุมธุรกิจ] เป็นลูปสนับสนุนเลขาธิการฯ ไม่ใช่ด่านอนุมัติเพิ่ม
[มุม IT] ใช้หน้าจอ RES-3 / RES-4 และ DFD Level 2 กระบวนการ 1.4–1.5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ตารางนี้แตก Process 2 เป็นกระบวนการย่อย พร้อมรหัสขั้นตอนใน User Flow ผู้ปฏิบัติ และจุดที่เรื่องไปต่อ ใช้หน้าจอ RES-3 / RES-4 และ DFD Level 2 กระบวนการ 1.4–1.5
[มุมธุรกิจ] อ่านคอลัมน์ผู้ปฏิบัติและไปต่อ
[มุม IT] อ่านคอลัมน์รหัสขั้นตอน ใช้ trace ไปหน้าจอและ DFD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ผังนี้คือเส้นทางรายงานการไต่สวนเบื้องต้นของ Process 2 ไล่ตาม Lane จากซ้ายไปขวา จุดสำคัญคือ RES009 ผอ.กบค. ตรวจรายการรอกลั่นกรอง / RES010 จัดทำใบบันทึกซับซ้อน / RES011 จ่ายงานให้คณะอนุกรรมการสนับสนุนฯ / RES012–013 จัดทำความเห็นและกลั่นกรอง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ผังนี้คือเส้นทางรายงานการไต่สวนเพื่อวินิจฉัยชี้มูลของ Process 2 ไล่ตาม Lane จากซ้ายไปขวา จุดสำคัญคือ RES109–111 ผอ.กบค. จัดทำใบบันทึกและจ่ายงาน / RES112–113 คณะอนุกรรมการสนับสนุนฯ กลั่นกรอง / ส่งกลับเลขาธิการฯ (RES107) / SLA ไม่เกิน 15 วัน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3 คือการกลั่นกรองก่อนเข้าที่ประชุม แต่ละประเภทเรื่องต่างกัน รายงานไต่สวนเบื้องต้นที่เป็นสำนวนกองปราบ ประธานลงนามบันทึกกองปราบก่อน แล้วส่งคณะอนุกรรมการกลั่นกรองฯ สำนวนชี้มูล ประธานคัดกรอง ถ้าซับซ้อนส่งคณะอนุกรรมการกลั่นกรองฯ ถ้าไม่ซับซ้อนมอบหมายกลุ่มงานกิจการคณะกรรมการทำความเห็นเสนอ ส่วนเรื่องทั่วไป ประธานอาจสั่งการไปยังหน่วยงานได้เลยและจบในระบบ
[มุมธุรกิจ] ประธานฯ เป็นผู้ตัดสินเส้นทางในช่วงนี้
[มุม IT] Process 3 แตกต่างตามประเภทเรื่องมากที่สุด — ตรวจ rule DEC-104 / DEC-202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ตารางนี้แตก Process 3 เป็นกระบวนการย่อย พร้อมรหัสขั้นตอนใน User Flow ผู้ปฏิบัติ และจุดที่เรื่องไปต่อ Process 3 แตกต่างตามประเภทเรื่องมากที่สุด — ตรวจ rule DEC-104 / DEC-202
[มุมธุรกิจ] อ่านคอลัมน์ผู้ปฏิบัติและไปต่อ
[มุม IT] อ่านคอลัมน์รหัสขั้นตอน ใช้ trace ไปหน้าจอและ DFD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ผังนี้คือเส้นทางรายงานการไต่สวนเบื้องต้นของ Process 3 ไล่ตาม Lane จากซ้ายไปขวา จุดสำคัญคือ RES014–015 ประธานฯ ลงนามบันทึกกองปราบ / RES016 กองบริหารคดีส่งเรื่องเข้าคณะอนุฯ กลั่นกรอง / RES017 จัดทำใบบันทึกมติอนุกรรมการ / RES018 พิจารณาเสนอมติและเอกสาร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ผังนี้คือเส้นทางรายงานการไต่สวนเพื่อวินิจฉัยชี้มูลของ Process 3 ไล่ตาม Lane จากซ้ายไปขวา จุดสำคัญคือ RES114 ประธานฯ ลงรับและคัดกรองสำนวน / DEC-104 ซับซ้อนยุ่งยาก? / ใช่ → RES115–117 คณะอนุฯ กลั่นกรอง / ไม่ → RES118 ลงนามมอบหมาย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ผังนี้คือเส้นทางมติเรื่องทั่วไป (ส่วนต้น)ของ Process 3 ไล่ตาม Lane จากซ้ายไปขวา จุดสำคัญคือ RES206 ประธานฯ ตรวจรายการที่เลขาธิการลงนามแล้ว / DEC-202 มอบหมาย/สั่งการหน่วยงาน? / ใช่ → RES207 สั่งการ แล้วสิ้นสุด / ไม่ → บรรจุวาระ (RES208)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4 ทุกประเภทเรื่องมารวมกันที่จุดนี้ ประธานกรรมการลงนามบรรจุวาระ แล้วกลุ่มงานคำวินิจฉัยและมติคณะกรรมการจัดทำปกวาระและสร้างวาระการประชุมในระบบ เรื่องที่เข้ามามาจาก 2 ทาง คือสำนวนที่มีใบด่วนจาก Process 1 และเรื่องที่ผ่านการกลั่นกรองจาก Process 3
[มุมธุรกิจ] จุดบรรจบของทุกเส้นทาง — ระบบแสดงคิวรอบรรจุวาระให้เห็นในที่เดียว
[มุม IT] ข้อมูลวาระเก็บใน tbl_res_calendar / _item / _item_case (D5–D8)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ตารางนี้แตก Process 4 เป็นกระบวนการย่อย พร้อมรหัสขั้นตอนใน User Flow ผู้ปฏิบัติ และจุดที่เรื่องไปต่อ ข้อมูลวาระเก็บใน tbl_res_calendar / _item / _item_case (D5–D8)
[มุมธุรกิจ] อ่านคอลัมน์ผู้ปฏิบัติและไปต่อ
[มุม IT] อ่านคอลัมน์รหัสขั้นตอน ใช้ trace ไปหน้าจอและ DFD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ผังนี้คือเส้นทางรายงานการไต่สวนเบื้องต้นของ Process 4 ไล่ตาม Lane จากซ้ายไปขวา จุดสำคัญคือ รับเข้าจาก RES008 (ใบด่วน) และ RES018 / RES019–020 ประธานฯ ลงนามบรรจุวาระ / RES021 จัดทำปกวาระ / RES022 สร้างวาระการประชุม → RES023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ผังนี้คือเส้นทางรายงานการไต่สวนเพื่อวินิจฉัยชี้มูลของ Process 4 ไล่ตาม Lane จากซ้ายไปขวา จุดสำคัญคือ รับเข้าจาก RES108, RES117, RES120 / RES121–122 ประธานฯ ลงนามบรรจุวาระ / RES123–124 จัดทำปกวาระและสร้างวาระ / ไปลงมติ (RES125)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ผังนี้คือเส้นทางมติเรื่องทั่วไป (ส่วนหลัง)ของ Process 4 ไล่ตาม Lane จากซ้ายไปขวา จุดสำคัญคือ RES208–209 ประธานฯ ลงนามบรรจุวาระ / RES210 จัดทำปกวาระ / RES211 สร้างวาระการประชุม / ไปลงมติ (RES212)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5 เป็นการประชุมคณะกรรมการ กลุ่มงานคำวินิจฉัยและมติฯ จัดทำใบมติ คณะกรรมการลงมติ แล้วกลุ่มงานจัดทำมติและคัดแยกผลมติ ผลมติเป็นตัวกำหนดเส้นทางต่อ รายงานไต่สวนเบื้องต้นแยกเป็นส่ง ป.ป.ช. มติอื่น หรือรับไว้ไต่สวน รายงานชี้มูลแยกเป็นชี้มูลหรือไม่ชี้มูล และเรื่องทั่วไปแยกเป็นมติอื่นหรือแต่งตั้งผู้ไต่สวน
[มุมธุรกิจ] "ผลมติ" คือสวิตช์ที่ส่งเรื่องไป Process 6 หรือ 7
[มุม IT] DEC-005/006/007/105/203 = mapping ประเภทมติ → workflow ถัดไป; ประเภท "มติอื่นๆ" ยังต้องระบุให้ครบ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ตารางนี้แตก Process 5 เป็นกระบวนการย่อย พร้อมรหัสขั้นตอนใน User Flow ผู้ปฏิบัติ และจุดที่เรื่องไปต่อ DEC-005/006/007/105/203 = mapping ประเภทมติ → workflow ถัดไป; ประเภท "มติอื่นๆ" ยังต้องระบุให้ครบ
[มุมธุรกิจ] อ่านคอลัมน์ผู้ปฏิบัติและไปต่อ
[มุม IT] อ่านคอลัมน์รหัสขั้นตอน ใช้ trace ไปหน้าจอและ DFD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ผังนี้คือเส้นทางรายงานการไต่สวนเบื้องต้นของ Process 5 ไล่ตาม Lane จากซ้ายไปขวา จุดสำคัญคือ RES023–024 ตรวจรายการรอลงมติ จัดทำใบมติ / RES025 คณะกรรมการ ป.ป.ท. ลงมติ / RES026 จัดทำมติตามความเห็นคณะกรรมการ / DEC-005 ส่ง ป.ป.ช.? / DEC-006 มติอื่น? / DEC-007 รับไว้ไต่สวน?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ผังนี้คือเส้นทางรายงานการไต่สวนเพื่อวินิจฉัยชี้มูลของ Process 5 ไล่ตาม Lane จากซ้ายไปขวา จุดสำคัญคือ RES125–126 ตรวจรายการรอลงมติ จัดทำใบมติ / RES127 คณะกรรมการ ป.ป.ท. ลงมติ / RES128 จัดทำมติ / DEC-105 ชี้มูลความผิด? ใช่ → Process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ผังนี้คือเส้นทางมติเรื่องทั่วไปของ Process 5 ไล่ตาม Lane จากซ้ายไปขวา จุดสำคัญคือ RES212–213 ตรวจรายการรอมติ จัดทำใบมติ / RES214 ลงมติเรื่องทั่วไป / RES215 จัดทำมติ / DEC-203 มติอื่น? → ส่งเอกสาร / แต่งตั้งผู้ไต่สวน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6 คือการดำเนินการตามมติที่ไม่ใช่การชี้มูล มี 4 กรณี มติส่ง ป.ป.ช. ระบบส่งมติคืนผู้รับผิดชอบเพื่อไปทำหนังสือส่งต่อ มติอื่นหรือไม่ชี้มูลส่งเอกสารคืนหน่วยงาน มติรับไว้ไต่สวนหรือแต่งตั้งผู้ไต่สวน กลุ่มงานกิจการคณะกรรมการจัดทำคำสั่งแต่งตั้ง และขอเลขคำสั่งกับเลขหนังสือส่งจากระบบสารบรรณอิเล็กทรอนิกส์ก่อนส่งออก และสำหรับเรื่องทั่วไปอาจต้องจัดทำรายงานการไต่สวนเพิ่มเติมตามมติ
[มุมธุรกิจ] สำนักงาน ป.ป.ช. ไม่ได้เชื่อมกับระบบนี้โดยตรง — ระบบส่งคืนผู้รับผิดชอบ
[มุม IT] จุดเชื่อมระบบสารบรรณ: RES033 / RES219 (ขอเลขคำสั่งและเลขหนังสือ)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ตารางนี้แตก Process 6 เป็นกระบวนการย่อย พร้อมรหัสขั้นตอนใน User Flow ผู้ปฏิบัติ และจุดที่เรื่องไปต่อ จุดเชื่อมระบบสารบรรณ: RES033 / RES219 (ขอเลขคำสั่งและเลขหนังสือ)
[มุมธุรกิจ] อ่านคอลัมน์ผู้ปฏิบัติและไปต่อ
[มุม IT] อ่านคอลัมน์รหัสขั้นตอน ใช้ trace ไปหน้าจอและ DFD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ผังนี้คือเส้นทางรายงานการไต่สวนเบื้องต้น (ส่วนหลัง)ของ Process 6 ไล่ตาม Lane จากซ้ายไปขวา จุดสำคัญคือ RES027 ส่งมติคืนผู้รับผิดชอบเพื่อทำหนังสือส่ง ป.ป.ช. / RES028 ส่งมติและเอกสารคืนสำนักที่รับผิดชอบ / RES029–031 ใบบันทึกนำ คำสั่งแต่งตั้ง ใบส่งคำสั่ง / RES033 ขอเลขคำสั่ง/เลขหนังสือส่งจากระบบสารบรรณ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ผังนี้คือเส้นทางรายงานการไต่สวนเพื่อวินิจฉัยชี้มูล (ส่วนหลัง)ของ Process 6 ไล่ตาม Lane จากซ้ายไปขวา จุดสำคัญคือ DEC-105 = ไม่ชี้มูล / RES129 ส่งรายงาน มติ และเอกสารคืน / สิ้นสุดกระบวนการในระบบ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ผังนี้คือเส้นทางมติเรื่องทั่วไป (ส่วนหลัง)ของ Process 6 ไล่ตาม Lane จากซ้ายไปขวา จุดสำคัญคือ DEC-203 = แต่งตั้งผู้ไต่สวน / RES216 จัดทำคำสั่งแต่งตั้ง / RES219 ขอเลขคำสั่งจากระบบสารบรรณ / RES217 จัดทำรายงานการไต่สวนเพิ่มเติม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7 เกิดเมื่อคณะกรรมการมีมติชี้มูลความผิด กลุ่มงานกิจการคณะกรรมการจัดทำรายงานวินิจฉัยชี้มูลเสนอคณะกรรมการลงนาม แล้วแยก 2 สาย สายอาญาขอเลขหนังสือส่งจากระบบสารบรรณแล้วส่งเรื่องดำเนินคดีพร้อมบันทึกการส่ง สายวินัยจัดทำใบบันทึกส่งวินัย ใบติดตาม และหนังสือลงโทษทางวินัย แล้วขอเลขหนังสือจากระบบสารบรรณ
[มุมธุรกิจ] ชี้มูลแล้วแยก "อาญา" กับ "วินัย" ชัดเจน
[มุม IT] หน้าจอ RES-19 รองรับทั้งสองสาย; ช่องเลขหนังสือจากระบบสารบรรณยังต้องเพิ่มในหน้าจอ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ตารางนี้แตก Process 7 เป็นกระบวนการย่อย พร้อมรหัสขั้นตอนใน User Flow ผู้ปฏิบัติ และจุดที่เรื่องไปต่อ หน้าจอ RES-19 รองรับทั้งสองสาย; ช่องเลขหนังสือจากระบบสารบรรณยังต้องเพิ่มในหน้าจอ
[มุมธุรกิจ] อ่านคอลัมน์ผู้ปฏิบัติและไปต่อ
[มุม IT] อ่านคอลัมน์รหัสขั้นตอน ใช้ trace ไปหน้าจอและ DFD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ผังนี้คือจัดทำรายงานวินิจฉัยชี้มูลและดำเนินการทางวินัยของ Process 7 ไล่ตาม Lane จากซ้ายไปขวา จุดสำคัญคือ RES130–131 จัดทำใบบันทึกนำและรายงานวินิจฉัยชี้มูล / RES132 คณะกรรมการ ป.ป.ท. ลงนาม / DEC-106 สายอาญา? / อาญา: RES135 ขอเลขหนังสือ → RES136 ส่งเรื่อง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8 เป็นกระบวนการสนับสนุน ไม่ได้อยู่ในลำดับงานหลัก บุคลากรค้นหาและกรองข้อมูลคดีตามสิทธิ์ได้ทุกช่วง ดูแดชบอร์ดแบบ Real Time และส่งออกเป็น Word Excel PDF
[มุมธุรกิจ] ผู้บริหารใช้ติดตามภาพรวมและสถิติมติ
[มุม IT] DFD ยังไม่มีกระบวนการแสดงผล/ส่งออก — อ่านจาก Data Store โดยตรง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ตารางนี้แตก Process 8 เป็นกระบวนการย่อย พร้อมรหัสขั้นตอนใน User Flow ผู้ปฏิบัติ และจุดที่เรื่องไปต่อ DFD ยังไม่มีกระบวนการแสดงผล/ส่งออก — อ่านจาก Data Store โดยตรง
[มุมธุรกิจ] อ่านคอลัมน์ผู้ปฏิบัติและไปต่อ
[มุม IT] อ่านคอลัมน์รหัสขั้นตอน ใช้ trace ไปหน้าจอและ DFD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ผังนี้คือระบบค้นหาและกรองข้อมูลคดีของ Process 8 ไล่ตาม Lane จากซ้ายไปขวา จุดสำคัญคือ RES053 ค้นหาและกรองข้อมูลคดีตามสิทธิ์ / ใช้ได้ทุกช่วงของกระบวนการ / หน้าจอที่รองรับ : RES-21 ทะเบียนสำนวน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ผังนี้คือระบบการแสดงผลข้อมูลของ Process 8 ไล่ตาม Lane จากซ้ายไปขวา จุดสำคัญคือ RES054 เรียกดูข้อมูลในรูปแบบแดชบอร์ด / RES055 ส่งออก Word / Excel / PDF / หน้าจอที่รองรับ : RES-22, RES-23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 2 Context Diagram มองระบบทั้งระบบเป็นกล่องเดียว แล้วดูว่ามีใครบ้างที่ส่งข้อมูลเข้าหรือรับข้อมูลออกจากระบบ ใช้กำหนดขอบเขตระบบให้ชัด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ผู้เกี่ยวข้องภายนอกมี 11 กลุ่ม แบ่งได้ 4 กลุ่มใหญ่ ผู้พิจารณาและลงนาม 4 ราย คณะอนุกรรมการ 2 คณะ กลุ่มงานในกองบริหารคดี 3 กลุ่ม และหน่วยงานกับระบบภายนอก 2 ราย E11 ระบบสารบรรณอิเล็กทรอนิกส์เพิ่มเข้ามาในรอบ V1.4 ตามคอมเมนต์เรื่องการขอเลขคำสั่งและเลขหนังสือ
[มุมธุรกิจ] ทุกบทบาทที่ทำงานกับระบบอยู่ในหน้านี้ — ชื่อบทบาทยังรอสรุปมาตรฐานจากทีม
[มุม IT] E11 = integration กับระบบสารบรรณ (request/response เลขที่หนังสือ)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ภาพรวม Context Diagram แสดงระบบเป็นกล่องเดียวตรงกลาง และผู้เกี่ยวข้อง 11 กลุ่มรอบนอก ในเล่มแยกเป็น 7 ภาพย่อยเพื่อให้อ่านชื่อข้อมูลบนเส้นได้ชัด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ตารางสรุปบทบาทของผู้เกี่ยวข้องแต่ละราย E1 เลขาธิการคณะกรรมการ ป.ป.ท. ทำหน้าที่พิจารณาความซับซ้อน/ความเร่งด่วน ให้ความเห็นและลงนามรายงาน E2 คณะอนุกรรมการสนับสนุนเลขาธิการฯ ทำหน้าที่กลั่นกรองสำนวนซับซ้อนที่ได้รับมอบหมาย แล้วส่งกลับเลขาธิการฯ E3 ประธานกรรมการ ป.ป.ท. ทำหน้าที่พิจารณา สั่งการ และลงนามบรรจุวาระการประชุม E4 กองบริหารคดี (กลุ่มงานคำวินิจฉัยและมติคณะกรรมการ) ทำหน้าที่นัดหมายวาระการประชุม บันทึกมติคณะกรรมการ E5 คณะกรรมการ ป.ป.ท. ทำหน้าที่ลงมติสำนวนตามวาระการประชุม E6 กองบริหารคดี (กลุ่มงานกิจการคณะกรรมการ) ทำหน้าที่จัดทำคำสั่งแต่งตั้ง รายงานวินิจฉัยชี้มูล หนังสือลงโทษ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ตารางสรุปบทบาทของผู้เกี่ยวข้องแต่ละราย E7 ผู้อำนวยการกองบริหารคดี (ผอ.กบค.) ทำหน้าที่ลงความเห็นเรื่องด่วน จ่ายงานสำนวนซับซ้อน E8 หน่วยงานต้นเรื่อง/เจ้าของเรื่อง ทำหน้าที่จัดทำ/เสนอสำนวนและเรื่องทั่วไป รับมติและเอกสารกลับ E9 กองบริหารคดี (กลุ่มงานบริหารคดีและบริหารทั่วไป) ทำหน้าที่รับสำนวนที่ได้รับมอบหมาย ส่งเรื่องเข้าคณะอนุฯ กลั่นกรอง E10 คณะอนุกรรมการกลั่นกรองเรื่องไต่สวนข้อเท็จจริง ทำหน้าที่พิจารณาเสนอมติ ส่งหนังสือมติพร้อมสำนวน E11 ระบบสารบรรณอิเล็กทรอนิกส์ (สารบรรณกลาง สลธ.) ทำหน้าที่ออกเลขคำสั่งและเลขหนังสือส่งออกตามคำขอจากระบบ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ภาพนี้แสดงการรับส่งข้อมูลระหว่างระบบกับ E1 เลขาธิการคณะกรรมการ ป.ป.ท. และ E2 คณะอนุกรรมการสนับสนุนเลขาธิการฯ E1 → ระบบ : ความเห็นและผลการลงนาม, คำสั่งส่งกลับสำนวนเร่งด่วน, คำสั่งมอบหมายสำนวนซับซ้อน ระบบ → E1 : ข้อมูลสำนวนและเอกสารประกอบ, สำนวนที่กลั่นกรองแล้วพร้อมมติอนุกรรมการ, ผลการสืบค้นรายการไต่สวน E2 → ระบบ : มติอนุกรรมการสนับสนุนเลขาธิการ ระบบ → E2 : รายงานไต่สวนที่ซับซ้อน, ผลการสืบค้นรายการไต่สวน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ภาพนี้แสดงการรับส่งข้อมูลระหว่างระบบกับ E3 ประธานกรรมการ ป.ป.ท. E3 → ระบบ : ผลการลงนามบันทึกกองปราบฯ, คำสั่งมอบหมายงาน, ผลพิจารณาความซับซ้อนสำนวนชี้มูล และอีก 1 รายการ ระบบ → E3 : บันทึกเสนอจากกองปราบฯ, รายงานไต่สวน, รายการรอลงนามบรรจุวาระ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ภาพนี้แสดงการรับส่งข้อมูลระหว่างระบบกับ E4 กองบริหารคดี (กลุ่มงานคำวินิจฉัยและมติคณะกรรมการ) และ E5 คณะกรรมการ ป.ป.ท. E4 → ระบบ : ระเบียบวาระและหนังสือเชิญประชุม, ใบมติและรายงานมติ ระบบ → E4 : คำสั่งบรรจุวาระการประชุม, มติคณะกรรมการ E5 → ระบบ : มติที่ประชุม, คำสั่งคณะกรรมการ, รายงานวินิจฉัยชี้มูลที่ลงนามแล้ว ระบบ → E5 : วาระการประชุม, รายงานวินิจฉัยชี้มูล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ภาพนี้แสดงการรับส่งข้อมูลระหว่างระบบกับ E6 กองบริหารคดี (กลุ่มงานกิจการคณะกรรมการ) E6 → ระบบ : ผลพิจารณาความซับซ้อน, ความเห็นเสนอ, ร่างคำสั่งคณะกรรมการ และอีก 5 รายการ ระบบ → E6 : รายงานไต่สวนวินิจฉัยชี้มูล, รายงานที่ได้รับมอบหมาย, คำสั่งคณะกรรมการ และอีก 1 รายการ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ภาพนี้แสดงการรับส่งข้อมูลระหว่างระบบกับ E7 ผู้อำนวยการกองบริหารคดี (ผอ.กบค.) และ E8 หน่วยงานต้นเรื่อง/เจ้าของเรื่อง E7 → ระบบ : คำสั่งจ่ายงานอนุกรรมการสนับสนุน, ความเห็นเรื่องเร่งด่วน ระบบ → E7 : รายงานไต่สวนที่ซับซ้อน, รายการเรื่องเร่งด่วน, ผลการสืบค้นรายการไต่สวน E8 → ระบบ : สำนวนไต่สวนและเรื่องทั่วไป, สำนวนเร่งด่วนพร้อมใบบันทึกนำด่วน ระบบ → E8 : คำขอใบบันทึกนำด่วน, ผลการสืบค้นรายการไต่สวน, รายงานไต่สวนเบื้องต้นสำนวนกองปราบ และอีก 4 รายการ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ภาพนี้แสดงการรับส่งข้อมูลระหว่างระบบกับ E9 กองบริหารคดี (กลุ่มงานบริหารคดีและบริหารทั่วไป) และ E10 คณะอนุกรรมการกลั่นกรองเรื่องไต่สวนข้อเท็จจริง E9 → ระบบ : หนังสือส่งเรื่องเข้าอนุกรรมการกลั่นกรอง ระบบ → E9 : รายงานไต่สวนเบื้องต้นสำนวนเขตพื้นที่, รายงานที่ได้รับมอบหมาย E10 → ระบบ : ข้อเสนอมติและเอกสาร, หนังสือส่งมติอนุกรรมการพร้อมสำนวน ระบบ → E10 : รายงานที่ได้รับมอบหมาย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ภาพนี้แสดงการรับส่งข้อมูลระหว่างระบบกับ E11 ระบบสารบรรณอิเล็กทรอนิกส์ (สารบรรณกลาง สลธ.) E11 → ระบบ : เลขที่คำสั่งและเลขหนังสือส่ง, เลขหนังสือส่งเรื่องคดีอาญา, เลขหนังสือลงโทษทางวินัย ระบบ → E11 : คำขอเลขคำสั่งและเลขหนังสือส่ง, คำขอเลขหนังสือส่งเรื่องคดีอาญา, คำขอเลขหนังสือลงโทษทางวินัย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 3 Data Flow Diagram เปิดกล่องระบบออกดูว่าข้างในมีกระบวนการอะไร ข้อมูลไหลจากใครไปที่ไหน และถูกเก็บในตารางใด ส่วนนี้เป็นสะพานระหว่างกระบวนการทำงานกับการออกแบบฐานข้อมูล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1 มี 6 กระบวนการ ทุกกล่องขึ้นต้นด้วยคำว่ากระบวนการตามคอมเมนต์ คอลัมน์กลางแสดงว่าแต่ละกระบวนการตรงกับ Process ใดใน User Flow เช่น 1.0 จัดทำสารบบคดีครอบคลุม Process 1–2 และ 4.0 จัดทำมติครอบคลุม Process 4–5 ส่วนคอลัมน์ขวาคือตารางข้อมูลที่ใช้หลัก
[มุมธุรกิจ] ใช้คอลัมน์ "ตรงกับ User Flow" เชื่อมกลับไปภาพที่เห็นในส่วนที่ 1
[มุม IT] Process 4.0 อ่าน/เขียนข้อมูลมากที่สุด (12 Data Store) — จุดที่ต้องออกแบบ transaction ให้รัดกุม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แหล่งจัดเก็บข้อมูลอ้างชื่อตารางจริงในฐานข้อมูล D1 สำนวนคดี/เรื่องกล่าวหา D2 ผู้ถูกกล่าวหาในสำนวนคดี D3 เชื่อมผู้ถูกกล่าวหากับฐานความผิด/มาตราที่เลือกไว้ D4 ไฟล์แนบของสำนวน D5 ทะเบียนการประชุมคณะกรรมการ ป.ป.ท. D6 ประวัติการแก้ไขทะเบียนการประชุม D7 รายการระเบียบวาระการประชุม D8 การจับคู่สำนวนคดีกับรายการระเบียบวาระการประชุม
[มุมธุรกิจ] อ่านคอลัมน์ขวาเพื่อดูว่าระบบเก็บข้อมูลอะไรบ้าง
[มุม IT] ชื่อตาราง tbl_cmp_* ใช้ร่วมกับระบบสำนวนคดี, tbl_res_* เป็นของกิจกรรมนี้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แหล่งจัดเก็บข้อมูลอ้างชื่อตารางจริงในฐานข้อมูล D9 ประวัติการแก้ไขรายการระเบียบวาระการประชุม D10 ฐานความผิด/มาตรา แยกตาม พ.ร.บ./ระเบียบ D11 รายการเสนอเรื่องเพื่อขอมติคณะกรรมการ ป.ป.ท. D12 Audit Trail กลาง บันทึกทุก state-transition ของรายการขอมติ D13 ข้อมูลประวัติการดำเนินงานเสนอเรื่องขอมติคณะกรรมการ D14 ข้อมูลรายการสำนวนคดีที่รวมเสนอขอมติคณะกรรมการ (กรณีรวมหลายสำนวน) D15 ข้อมูลรายชื่อสถานะการเข้าประชุม และบันทึกความคิดเห็นแย้งรายบุคคลของกรรมการ ป.ป.ท. ในแต่ละวาระ D16 ข้อคิดเห็นหรือประเด็นประมวลย่อส่วนตัว (Personal Note) ของผู้ใช้งานในแต่ละวาระ
[มุมธุรกิจ] อ่านคอลัมน์ขวาเพื่อดูว่าระบบเก็บข้อมูลอะไรบ้าง
[มุม IT] ชื่อตาราง tbl_cmp_* ใช้ร่วมกับระบบสำนวนคดี, tbl_res_* เป็นของกิจกรรมนี้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E1 เลขาธิการคณะกรรมการ ป.ป.ท. กับกระบวนการ 1.0 1.0 → E1 : ข้อมูลสำนวนและเอกสารประกอบ, สำนวนที่กลั่นกรองแล้วพร้อมมติอนุกรรมการ และอีก 1 รายการ E1 → 1.0 : ความเห็นและผลการลงนาม, คำสั่งส่งกลับสำนวนเร่งด่วน และอีก 1 รายการ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E2 คณะอนุกรรมการสนับสนุนเลขาธิการฯ กับกระบวนการ 1.0 1.0 → E2 : รายงานไต่สวนที่ซับซ้อน, ผลการสืบค้นรายการไต่สวน E2 → 1.0 : มติอนุกรรมการสนับสนุนเลขาธิการ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E3 ประธานกรรมการ ป.ป.ท. กับกระบวนการ 2.0, 3.0, 4.0 2.0 → E3 : บันทึกเสนอจากกองปราบฯ E3 → 2.0 : ผลการลงนามบันทึกกองปราบฯ 3.0 → E3 : รายงานไต่สวน E3 → 3.0 : คำสั่งมอบหมายงาน, ผลพิจารณาความซับซ้อนสำนวนชี้มูล 4.0 → E3 : รายการรอลงนามบรรจุวาระ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E4 กองบริหารคดี (กลุ่มงานคำวินิจฉัยและมติคณะกรรมการ) กับกระบวนการ 4.0 4.0 → E4 : คำสั่งบรรจุวาระการประชุม, มติคณะกรรมการ E4 → 4.0 : ระเบียบวาระและหนังสือเชิญประชุม, ใบมติและรายงานมติ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E5 คณะกรรมการ ป.ป.ท. กับกระบวนการ 4.0, 5.0, 6.0 4.0 → E5 : วาระการประชุม E5 → 4.0 : มติที่ประชุม E5 → 5.0 : คำสั่งคณะกรรมการ 6.0 → E5 : รายงานวินิจฉัยชี้มูล E5 → 6.0 : รายงานวินิจฉัยชี้มูลที่ลงนามแล้ว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E6 กองบริหารคดี (กลุ่มงานกิจการคณะกรรมการ) กับกระบวนการ 2.0, 3.0, 5.0, 6.0 2.0 → E6 : รายงานไต่สวนวินิจฉัยชี้มูล E6 → 2.0 : ผลพิจารณาความซับซ้อน 3.0 → E6 : รายงานที่ได้รับมอบหมาย E6 → 3.0 : ความเห็นเสนอ 5.0 → E6 : คำสั่งคณะกรรมการ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E7 ผู้อำนวยการกองบริหารคดี (ผอ.กบค.) กับกระบวนการ 1.0 1.0 → E7 : รายงานไต่สวนที่ซับซ้อน, รายการเรื่องเร่งด่วน และอีก 1 รายการ E7 → 1.0 : คำสั่งจ่ายงานอนุกรรมการสนับสนุน, ความเห็นเรื่องเร่งด่วน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E8 หน่วยงานต้นเรื่อง/เจ้าของเรื่อง กับกระบวนการ 1.0, 2.0, 4.0, 5.0, 6.0 E8 → 1.0 : สำนวนไต่สวนและเรื่องทั่วไป, สำนวนเร่งด่วนพร้อมใบบันทึกนำด่วน 1.0 → E8 : คำขอใบบันทึกนำด่วน, ผลการสืบค้นรายการไต่สวน 2.0 → E8 : รายงานไต่สวนเบื้องต้นสำนวนกองปราบ 4.0 → E8 : มติคณะกรรมการและเอกสาร 5.0 → E8 : หนังสือคำสั่งคณะกรรมการ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E9 กองบริหารคดี (กลุ่มงานบริหารคดีและบริหารทั่วไป) กับกระบวนการ 2.0, 3.0 2.0 → E9 : รายงานไต่สวนเบื้องต้นสำนวนเขตพื้นที่ E9 → 2.0 : หนังสือส่งเรื่องเข้าอนุกรรมการกลั่นกรอง 3.0 → E9 : รายงานที่ได้รับมอบหมาย E9 → 3.0 : หนังสือส่งเรื่องเข้าอนุกรรมการกลั่นกรอง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E10 คณะอนุกรรมการกลั่นกรองเรื่องไต่สวนข้อเท็จจริง กับกระบวนการ 3.0 3.0 → E10 : รายงานที่ได้รับมอบหมาย E10 → 3.0 : ข้อเสนอมติและเอกสาร, หนังสือส่งมติอนุกรรมการพร้อมสำนวน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ภาพนี้แสดง E11 ระบบสารบรรณอิเล็กทรอนิกส์ (สารบรรณกลาง สลธ.) กับกระบวนการ 5.0, 6.0 5.0 → E11 : คำขอเลขคำสั่งและเลขหนังสือส่ง E11 → 5.0 : เลขที่คำสั่งและเลขหนังสือส่ง 6.0 → E11 : คำขอเลขหนังสือส่งเรื่องคดีอาญา, คำขอเลขหนังสือลงโทษทางวินัย E11 → 6.0 : เลขหนังสือส่งเรื่องคดีอาญา, เลขหนังสือลงโทษทางวินัย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2 ของ Process 1.0 หน้า 1/3 แสดงกระบวนการย่อย 1.1 กระบวนการแสดงรายการพิจารณา/ลงนาม ทำหน้าที่แสดงรายการสำนวนไต่สวนเบื้องต้น/ไต่สวนเพื่อวินิจฉัยชี้มูล/มติเรื่องทั่วไป 1.2 กระบวนการสืบค้นข้อมูลสำนวนคดี ทำหน้าที่สืบค้นหรือกรองข้อมูลสำนวนไต่สวนเบื้องต้น/ไต่สวนเพื่อวินิจฉัยชี้มูล/มติเรื่องทั่วไป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2 ของ Process 1.0 หน้า 2/3 แสดงกระบวนการย่อย 1.3 กระบวนการส่งกลับสำนวนเร่งด่วนที่ไม่มีใบบันทึกนำด่วน ทำหน้าที่ส่งเอกสารที่เลขาธิการเห็นควรว่าเป็นเรื่องด่วน แต่ไม่มีใบด่วนแนบมาด้วยคืนให้กับหน่วยงานต้นเรื่อง 1.4 กระบวนการมอบหมายสำนวนที่ซับซ้อน ทำหน้าที่มอบหมาย/สั่งการหน่วยงานผู้รับผิดชอบหรือเกี่ยวข้อง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2 ของ Process 1.0 หน้า 3/3 แสดงกระบวนการย่อย 1.5 กระบวนการจัดทำมติอนุกรรมการสนับสนุนเลขาธิการ ทำหน้าที่จัดทำมติอนุกรรมการสนับสนุนเลขาธิการ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2 ของ Process 2.0 แสดงกระบวนการย่อย 2.1 กระบวนการคัดแยกเพื่อส่งกลับหรือส่งต่อรายงานไต่สวน ทำหน้าที่คัดแยกรายงานไต่สวนเบื้องต้น/รายการไต่สวนเพื่อวินิจฉัยชี้มูล ภายหลังเลขาธิการคณะกรรมการ ป.ป.ท. ลงนาม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2 ของ Process 3.0 แสดงกระบวนการย่อย 3.1 กระบวนการส่งรายงานไต่สวนให้ผู้รับผิดชอบพิจารณา ทำหน้าที่มอบหมาย/สั่งการหน่วยงานผู้รับผิดชอบหรือเกี่ยวข้อง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2 ของ Process 4.0 แสดงกระบวนการย่อย 4.1 กระบวนการจัดทำวาระการประชุม ทำหน้าที่สร้างวาระประชุมตามคำสั่งของประธานกรรมการ 4.2 กระบวนการบันทึกมติคณะกรรมการ ทำหน้าที่จัดทำรายงานมติตามมติของคณะกรรมการ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2 ของ Process 5.0 แสดงกระบวนการย่อย 5.1 กระบวนการจัดทำคำสั่งคณะกรรมการ ทำหน้าที่จัดทำรายงานคำสั่งตามคำสั่งคณะกรรมการ ป.ป.ท. และ/หรือสำนักงาน ป.ป.ท. และขอเลขที่คำสั่งจากระบบสารบรรณอิเล็กทรอนิกส์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ระดับ 2 ของ Process 6.0 แสดงกระบวนการย่อย 6.1 กระบวนการจัดทำรายงานวินิจฉัยชี้มูล ทำหน้าที่จัดทำรายงานการไต่สวนวินิจฉัยชี้มูล และมอบหมาย/สั่งการหน่วยงานผู้รับผิดชอบหรือเกี่ยวข้องตามรายงานการไต่สวนวินิจฉัยชี้มูล… 6.2 กระบวนการจัดทำหนังสือลงโทษทางวินัย ทำหน้าที่จัดทำหนังสือลงโทษทางวินัย และมอบหมาย/สั่งการหน่วยงานผู้รับผิดชอบหรือเกี่ยวข้องตามหนังสือลงโทษทางวินัย…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 4 Wireframe แสดงหน้าจอของแต่ละกลุ่มผู้ใช้งาน จัดตามระบบงาน 4 ระบบ ทุกหน้าจอมีวัตถุประสงค์ ขั้นตอนการทำงาน และรหัสความต้องการ FR-RES กำกับ และในสไลด์นี้เพิ่มคอลัมน์ว่าหน้าจอนั้นรองรับ Process ย่อยใดใน User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Wireframe มีทั้งหมด 23 หน้าจอ ระบบจัดทำทะเบียนคุมฯ มากที่สุด 14 หน้าจอ ครอบคลุม 7 กลุ่มผู้ใช้ ระบบสนับสนุนการพิจารณา 6 หน้าจอ และระบบค้นหากับระบบแสดงผลอีก 3 หน้าจอ
[มุมธุรกิจ] แต่ละกลุ่มผู้ใช้จะเห็นเฉพาะหน้าจอของตน
[มุม IT] หน้าจอ = 23 Page Code (RES-1 ถึง RES-23) ในบทที่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หัวข้อ 4.1 ระบบจัดทำทะเบียนคุมรายงานไต่สวนเบื้องต้น/รายงานไต่สวนเพื่อวินิจฉัยชี้มูล และการจัดเก็บข้อมูลสำนวนคดีอิเล็กทรอนิกส์ มีกลุ่มผู้ใช้งาน 7 กลุ่ม ได้แก่ 4.1.1 เลขาธิการคณะกรรมการ ป.ป.ท. · 2 หน้าจอ 4.1.2 คณะอนุกรรมการสนับสนุนเลขาธิการฯ · 2 หน้าจอ 4.1.3 ประธานกรรมการ ป.ป.ท. · 2 หน้าจอ 4.1.4 กลุ่มงานคำวินิจฉัยและมติคณะกรรมการ · 3 หน้าจอ 4.1.5 คณะกรรมการ ป.ป.ท. · 2 หน้าจอ 4.1.6 คณะอนุกรรมการกลั่นกรองฯ · 2 หน้าจอ 4.1.7 กลุ่มงานบริหารคดีและบริหารทั่วไป · 1 หน้าจอ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หน้าจอหน้ารายการพิจารณา/ลงนาม สำหรับเลขาธิการคณะกรรมการ ป.ป.ท. ใช้ดูภาพรวมสำนวนที่เสนอตามลำดับชั้น รอพิจารณาและลงนาม พร้อมติดตาม SLA ขั้นตอนหลักคือ กรองจากการ์ดสรุปสถานะ หรือค้นหาเลขสำนวน/บุคคล ตรวจสถานะและกำหนดเวลา SLA กด "ดำเนินการ" เพื่อเข้าหน้าพิจารณาและลงนาม หน้าจอนี้รองรับกระบวนการย่อย 1.1 ใน User Flow และตรงกับข้อกำหนด FR-RES-101
[มุมธุรกิจ] ผู้ใช้ : เลขาธิการคณะกรรมการ ป.ป.ท. — กด "ดำเนินการ" เพื่อเข้าหน้าพิจารณาและลงนาม
[มุม IT] FR-RES-101 → Page Code RES-1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หน้าจอหน้าพิจารณาและลงนามรายงาน สำหรับเลขาธิการคณะกรรมการ ป.ป.ท. ใช้ตรวจสำนวนและรายงาน ปปท. ๒-๑๓ สั่งการตาม ม.28 คัดกรองความซับซ้อน/ความเร่งด่วน และลงนามดิจิทัล ขั้นตอนหลักคือ ดูรายงานและไทม์ไลน์การเสนอตามลำดับชั้น ระบุคำสั่ง ม.28 และความซับซ้อน/เร่งด่วน ให้ความเห็นและลงลายมือชื่อดิจิทัล หน้าจอนี้รองรับกระบวนการย่อย 1.2–1.5 ใน User Flow และตรงกับข้อกำหนด FR-RES-102
[มุมธุรกิจ] ผู้ใช้ : เลขาธิการคณะกรรมการ ป.ป.ท. — ให้ความเห็นและลงลายมือชื่อดิจิทัล
[มุม IT] FR-RES-102 → Page Code RES-2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ส่วนที่เหลือของหน้าจอหน้าพิจารณาและลงนามรายงาน แสดงรายละเอียดต่อเนื่องเมื่อเลื่อนหน้าจอลง ได้แก่ หน้าพิจารณาและลงนามรายงาน ส่วนที่ 2 หน้าพิจารณาและลงนามรายงาน ส่วนที่ 3 หน้าพิจารณาและลงนามรายงาน ส่วนที่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หน้าจอหน้ารายการสำนวนรอกลั่นกรอง สำหรับคณะอนุกรรมการสนับสนุนเลขาธิการฯ ใช้ดูรายการสำนวนซับซ้อนที่เลขาธิการฯ ส่งมาให้กลั่นกรอง ขั้นตอนหลักคือ กรองตามสถานะหรือค้นหาเลขสำนวน ตรวจลำดับความสำคัญและ SLA เปิดหน้ากลั่นกรองสำนวนซับซ้อน หน้าจอนี้รองรับกระบวนการย่อย 2.1 ใน User Flow และตรงกับข้อกำหนด FR-RES-401
[มุมธุรกิจ] ผู้ใช้ : คณะอนุกรรมการสนับสนุนเลขาธิการฯ — เปิดหน้ากลั่นกรองสำนวนซับซ้อน
[มุม IT] FR-RES-401 → Page Code RES-3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หน้าจอหน้ากลั่นกรองสำนวนซับซ้อน สำหรับคณะอนุกรรมการสนับสนุนเลขาธิการฯ ใช้กลั่นกรองข้อเท็จจริงและข้อกฎหมาย ลงมติ 4 แนวทาง และจัดทำบันทึกความเห็นเสนอเลขาธิการฯ ขั้นตอนหลักคือ ตรวจรายงานข้อเท็จจริงและพยานหลักฐาน เลือกแนวทาง: ชี้มูล / ไต่สวนเพิ่ม / ส่งหน่วยงานอื่น / ยุติ บันทึกและส่งผลกลับเลขาธิการฯ หน้าจอนี้รองรับกระบวนการย่อย 2.2 ใน User Flow และตรงกับข้อกำหนด FR-RES-402
[มุมธุรกิจ] ผู้ใช้ : คณะอนุกรรมการสนับสนุนเลขาธิการฯ — บันทึกและส่งผลกลับเลขาธิการฯ
[มุม IT] FR-RES-402 → Page Code RES-4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ส่วนที่เหลือของหน้าจอหน้ากลั่นกรองสำนวนซับซ้อน แสดงรายละเอียดต่อเนื่องเมื่อเลื่อนหน้าจอลง ได้แก่ หน้ากลั่นกรองสำนวนซับซ้อน ส่วนที่2 หน้ากลั่นกรองสำนวนซับซ้อน ส่วนที่3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หน้าจอหน้ารายการพิจารณาสั่งการและบรรจุวาระ สำหรับประธานกรรมการ ป.ป.ท. ใช้ติดตามคิวสำนวนที่รอสั่งการบรรจุวาระ (วาระด่วน/ปกติ) พร้อม SLA ขั้นตอนหลักคือ กรองจากการ์ดสรุป เช่น วาระด่วน ตรวจข้อมูลสำนวน หน่วยงานที่เสนอ และ SLA กด "พิจารณาสั่งการ" หน้าจอนี้รองรับกระบวนการย่อย 3.1, 3.2, 4.1 ใน User Flow และตรงกับข้อกำหนด FR-RES-201
[มุมธุรกิจ] ผู้ใช้ : ประธานกรรมการ ป.ป.ท. — กด "พิจารณาสั่งการ"
[มุม IT] FR-RES-201 → Page Code RES-8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หน้าจอหน้าพิจารณาสั่งการบรรจุวาระและออกคำสั่ง ม.24 สำหรับประธานกรรมการ ป.ป.ท. ใช้สั่งการบรรจุวาระ (ปกติ/ด่วน เลือกรอบประชุม) และออกคำสั่งแต่งตั้งผู้ไต่สวนตาม ม.24 พร้อมลงนาม ขั้นตอนหลักคือ ตรวจสรุปข้อเท็จจริงและความเห็นเลขาธิการฯ ระบุคำสั่งบรรจุวาระ / คำสั่ง ม.24 บันทึกและลงนามดิจิทัล หน้าจอนี้รองรับกระบวนการย่อย 3.2, 3.5, 4.1 ใน User Flow และตรงกับข้อกำหนด FR-RES-202
[มุมธุรกิจ] ผู้ใช้ : ประธานกรรมการ ป.ป.ท. — บันทึกและลงนามดิจิทัล
[มุม IT] FR-RES-202 → Page Code RES-9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ส่วนที่เหลือของหน้าจอหน้าพิจารณาสั่งการบรรจุวาระและออกคำสั่ง ม.24 แสดงรายละเอียดต่อเนื่องเมื่อเลื่อนหน้าจอลง ได้แก่ หน้าพิจารณาสั่งการบรรจุวาระและออกคำสั่ง ม.24 ส่วนที่ 2 หน้าพิจารณาสั่งการบรรจุวาระและออกคำสั่ง ม.24 ส่วนที่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หน้าจอหน้าทะเบียนวาระการประชุม สำหรับเจ้าหน้าที่กลุ่มงานคำวินิจฉัยและมติคณะกรรมการ ใช้บริหารทะเบียนรอบการประชุม เปิดรอบใหม่ และจัดคิวสำนวนรอบรรจุวาระ ขั้นตอนหลักคือ กรองคิวตามแท็บ (เรื่องใหม่ / จากอนุฯ / เลื่อน-ถอน) กด "บรรจุวาระ" หรือ "+ เพิ่มการประชุม" เข้าจัดการรายละเอียดวาระของรอบประชุม หน้าจอนี้รองรับกระบวนการย่อย 4.2 ใน User Flow และตรงกับข้อกำหนด FR-RES-601
[มุมธุรกิจ] ผู้ใช้ : กลุ่มงานคำวินิจฉัยและมติคณะกรรมการ — เข้าจัดการรายละเอียดวาระของรอบประชุม
[มุม IT] FR-RES-601 → Page Code RES-5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ส่วนที่เหลือของหน้าจอหน้าทะเบียนวาระการประชุม แสดงรายละเอียดต่อเนื่องเมื่อเลื่อนหน้าจอลง ได้แก่ หน้าทะเบียนวาระการประชุม-2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หน้าจอหน้ารายละเอียดวาระการประชุม สำหรับเจ้าหน้าที่กลุ่มงานคำวินิจฉัยและมติคณะกรรมการ ใช้จัดเรียงระเบียบวาระ เพิ่มสำนวนเข้าวาระ และดูสถิติความเห็นแย้ง/การรวมสำนวน ขั้นตอนหลักคือ กด "+ เพิ่มวาระ" นำสำนวนที่สั่งการแล้วเข้ารอบ จัดลำดับวาระด้วยเลขลำดับหรือปุ่มเลื่อน ส่งออก Excel/CSV หน้าจอนี้รองรับกระบวนการย่อย 4.2 ใน User Flow และตรงกับข้อกำหนด FR-RES-602
[มุมธุรกิจ] ผู้ใช้ : กลุ่มงานคำวินิจฉัยและมติคณะกรรมการ — ส่งออก Excel/CSV
[มุม IT] FR-RES-602 → Page Code RES-6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หน้าจอหน้าจัดทำเอกสารการประชุมคณะกรรมการ ป.ป.ท. สำหรับเจ้าหน้าที่กลุ่มงานคำวินิจฉัยและมติคณะกรรมการ ใช้จัดทำหนังสือเชิญประชุม ล็อกรายชื่อกรรมการ จัดการผู้มีส่วนได้เสียรายวาระ และสร้างระเบียบวาระอัตโนมัติ ขั้นตอนหลักคือ ระบุเลขที่หนังสือ วัน เวลา สถานที่ ชั้นความลับ กำหนดกรรมการที่เข้าประชุมรายวาระ ยืนยันจัดวาระ ส่งประธานฯ สั่งการ หน้าจอนี้รองรับกระบวนการย่อย 4.2 ใน User Flow และตรงกับข้อกำหนด FR-RES-603
[มุมธุรกิจ] ผู้ใช้ : กลุ่มงานคำวินิจฉัยและมติคณะกรรมการ — ยืนยันจัดวาระ ส่งประธานฯ สั่งการ
[มุม IT] FR-RES-603 → Page Code RES-7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ส่วนที่เหลือของหน้าจอหน้าจัดทำเอกสารการประชุมคณะกรรมการ ป.ป.ท. แสดงรายละเอียดต่อเนื่องเมื่อเลื่อนหน้าจอลง ได้แก่ หน้ารายละเอียดวาระการประชุม ส่วนที่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หน้าจอหน้ารอบการประชุมและอ่านวาระล่วงหน้า สำหรับคณะกรรมการ ป.ป.ท. ใช้ดูรอบการประชุมและอ่านระเบียบวาระล่วงหน้าก่อนประชุมอย่างน้อย 3 วัน ขั้นตอนหลักคือ เลือกรอบการประชุม ตรวจวาระและสำนวนในแต่ละวาระ เปิดอ่านรายงานและพยานหลักฐาน หน้าจอนี้รองรับกระบวนการย่อย 5.2 ใน User Flow และตรงกับข้อกำหนด FR-RES-203
[มุมธุรกิจ] ผู้ใช้ : คณะกรรมการ ป.ป.ท. — เปิดอ่านรายงานและพยานหลักฐาน
[มุม IT] FR-RES-203 → Page Code RES-10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หน้าจอหน้ารายละเอียดวาระและสำนวนการประชุม สำหรับคณะกรรมการ ป.ป.ท. ใช้อ่านรายละเอียดวาระรายสำนวน พรีวิวเอกสาร และบันทึกความเห็นส่วนตัวก่อนประชุม ขั้นตอนหลักคือ ศึกษาข้อกล่าวหาและรายงาน ปปท. ๒-๑๓ พรีวิวเอกสารพยานหลักฐาน บันทึกข้อสังเกต/ประเด็นซักถามส่วนตัว หน้าจอนี้รองรับกระบวนการย่อย 5.2 ใน User Flow และตรงกับข้อกำหนด FR-RES-204
[มุมธุรกิจ] ผู้ใช้ : คณะกรรมการ ป.ป.ท. — บันทึกข้อสังเกต/ประเด็นซักถามส่วนตัว
[มุม IT] FR-RES-204 → Page Code RES-11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ส่วนที่เหลือของหน้าจอหน้ารายละเอียดวาระและสำนวนการประชุม แสดงรายละเอียดต่อเนื่องเมื่อเลื่อนหน้าจอลง ได้แก่ หน้ารายละเอียดวาระการประชุมและบันทึกความเห็นส่วนตัว ส่วนที่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หน้าจอหน้ารายการสำนวนรอกลั่นกรองของคณะอนุกรรมการกลั่นกรองฯ สำหรับคณะอนุกรรมการกลั่นกรองฯ ใช้ติดตามและตรวจรายการสำนวนที่ได้รับมอบหมายให้กลั่นกรอง ขั้นตอนหลักคือ ค้นหาหรือกรองสำนวน ดูรายละเอียด หรือ "ดำเนินการ" เมื่อถึงขั้นกลั่นกรอง ขอข้อมูลเพิ่มหรือส่งคืนเจ้าของสำนวน หน้าจอนี้รองรับกระบวนการย่อย 3.4 ใน User Flow และตรงกับข้อกำหนด FR-RES-604
[มุมธุรกิจ] ผู้ใช้ : คณะอนุกรรมการกลั่นกรองฯ — ขอข้อมูลเพิ่มหรือส่งคืนเจ้าของสำนวน
[มุม IT] FR-RES-604 → Page Code RES-12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หน้าจอหน้าคณะอนุกรรมการกลั่นกรองเรื่องไต่สวนข้อเท็จจริง สำหรับคณะอนุกรรมการกลั่นกรองฯ ใช้บันทึกผลประชุมกลั่นกรอง ตรวจองค์ประชุมอัตโนมัติ เลือกมติ และลงนามดิจิทัลรับรองมติ ขั้นตอนหลักคือ กรอกครั้งที่/วันที่ประชุม และจำนวนผู้เข้าประชุม เลือกมติ 1 ใน 4 ตัวเลือก พร้อมความเห็น พรีวิวร่างมติ แล้วลงลายมือชื่อดิจิทัล หน้าจอนี้รองรับกระบวนการย่อย 3.4 ใน User Flow และตรงกับข้อกำหนด FR-RES-605
[มุมธุรกิจ] ผู้ใช้ : คณะอนุกรรมการกลั่นกรองฯ — พรีวิวร่างมติ แล้วลงลายมือชื่อดิจิทัล
[มุม IT] FR-RES-605 → Page Code RES-13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ส่วนที่เหลือของหน้าจอหน้าคณะอนุกรรมการกลั่นกรองเรื่องไต่สวนข้อเท็จจริง แสดงรายละเอียดต่อเนื่องเมื่อเลื่อนหน้าจอลง ได้แก่ หน้าคณะอนุกรรมการกลั่นกรองเรื่องไต่สวนข้อเท็จจริง ส่วนที่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หน้าจอหน้ารายการคดี สำหรับกลุ่มงานบริหารคดีและบริหารทั่วไป กองบริหารคดี ใช้บริหารคิวสำนวนที่รอส่งเข้าคณะอนุกรรมการกลั่นกรองฯ พร้อมติดตาม SLA ขั้นตอนหลักคือ ดูสรุปการ์ด 4 สถานะ และค้นหาสำนวน ตรวจคณะที่มอบหมายและ SLA กด "ส่งเข้าคณะ" ระบบปรับสถานะอัตโนมัติ หน้าจอนี้รองรับกระบวนการย่อย 3.4 ใน User Flow และตรงกับข้อกำหนด FR-RES-901
[มุมธุรกิจ] ผู้ใช้ : กลุ่มงานบริหารคดีและบริหารทั่วไป — กด "ส่งเข้าคณะ" ระบบปรับสถานะอัตโนมัติ
[มุม IT] FR-RES-901 → Page Code RES-14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หัวข้อ 4.2 ระบบการสนับสนุนการพิจารณาของคณะกรรมการ ป.ป.ท. มีกลุ่มผู้ใช้งาน 2 กลุ่ม ได้แก่ 4.2.1 กลุ่มงานคำวินิจฉัยและมติคณะกรรมการ · 3 หน้าจอ 4.2.2 กลุ่มงานกิจการคณะกรรมการ · 3 หน้าจอ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หน้าจอหน้ารายการรอจัดทำมติ สำหรับเจ้าหน้าที่กลุ่มงานคำวินิจฉัยและมติคณะกรรมการ ใช้ดูรายการสำนวนที่ประชุมแล้วรอบันทึกมติ และติดตามการส่งต่อมติ ขั้นตอนหลักคือ สลับแท็บคิวรอบันทึกมติ / ทะเบียนมติ กรองจากการ์ด 7 สถานะ ตรวจ SLA 15 วัน กด "บันทึกมติ" หน้าจอนี้รองรับกระบวนการย่อย 5.1 ใน User Flow และตรงกับข้อกำหนด FR-RES-501
[มุมธุรกิจ] ผู้ใช้ : กลุ่มงานคำวินิจฉัยและมติคณะกรรมการ — กด "บันทึกมติ"
[มุม IT] FR-RES-501 → Page Code RES-15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หน้าจอหน้าบันทึกมติที่ประชุมคณะกรรมการ ป.ป.ท. สำหรับเจ้าหน้าที่กลุ่มงานคำวินิจฉัยและมติคณะกรรมการ ใช้บันทึกองค์ประชุม การลงคะแนนรายบุคคล และผลมติ 8 ประเภทตามฐานอำนาจกฎหมาย พร้อมเอกสารมติอัตโนมัติ ขั้นตอนหลักคือ บันทึกการเข้าประชุมและการลงมติรายท่าน เลือกประเภทผลมติ ระบบเลือกแบบฟอร์มให้ พรีวิวและบันทึกมติที่ประชุม หน้าจอนี้รองรับกระบวนการย่อย 5.3 ใน User Flow และตรงกับข้อกำหนด FR-RES-502
[มุมธุรกิจ] ผู้ใช้ : กลุ่มงานคำวินิจฉัยและมติคณะกรรมการ — พรีวิวและบันทึกมติที่ประชุม
[มุม IT] FR-RES-502 → Page Code RES-16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ส่วนที่เหลือของหน้าจอหน้าบันทึกมติที่ประชุมคณะกรรมการ ป.ป.ท. แสดงรายละเอียดต่อเนื่องเมื่อเลื่อนหน้าจอลง ได้แก่ หน้าบันทึกมติที่ประชุมคณะกรรมการ ป.ป.ท. ส่วนที่ 2 หน้าบันทึกมติที่ประชุมคณะกรรมการ ป.ป.ท. ส่วนที่ 3 หน้าบันทึกมติที่ประชุมคณะกรรมการ ป.ป.ท. ส่วนที่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หน้าจอหน้าจัดทำรายงานมติการประชุมคณะกรรมการ ป.ป.ท. สำหรับเจ้าหน้าที่กลุ่มงานคำวินิจฉัยและมติคณะกรรมการ ใช้รวบรวมมติทุกวาระในรอบประชุมเป็นรายงานการประชุมฉบับสมบูรณ์ และส่งออกเอกสาร ขั้นตอนหลักคือ เลือกรอบ/ครั้งที่ประชุม และวาระ ระบบรวมมติและพรีวิวเล่มรายงาน ยืนยันรายงาน ส่งออก DOCX/พิมพ์ หน้าจอนี้รองรับกระบวนการย่อย 5.3, 6.2 ใน User Flow และตรงกับข้อกำหนด FR-RES-503
[มุมธุรกิจ] ผู้ใช้ : กลุ่มงานคำวินิจฉัยและมติคณะกรรมการ — ยืนยันรายงาน ส่งออก DOCX/พิมพ์
[มุม IT] FR-RES-503 → Page Code RES-17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หน้าจอหน้ารายการเรื่องที่ต้องจัดทำ สำหรับเจ้าหน้าที่กลุ่มงานกิจการคณะกรรมการ ใช้บริหารคิวงานหลังมติ: คำสั่งแต่งตั้ง ม.24 รายงานวินิจฉัยชี้มูล หนังสือลงโทษ และส่งเรื่องดำเนินคดี ขั้นตอนหลักคือ กรองจากการ์ด 4 สถานะ หรือสถานะจัดทำ ตรวจ SLA ของแต่ละสำนวน กด "ดำเนินการ" ไปหน้าจอที่ตรงสถานะ หน้าจอนี้รองรับกระบวนการย่อย 3.3, 6.3, 7.1 ใน User Flow และตรงกับข้อกำหนด FR-RES-301
[มุมธุรกิจ] ผู้ใช้ : กลุ่มงานกิจการคณะกรรมการ — กด "ดำเนินการ" ไปหน้าจอที่ตรงสถานะ
[มุม IT] FR-RES-301 → Page Code RES-18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หน้าจอหน้าจัดทำรายงานวินิจฉัยชี้มูล สำหรับเจ้าหน้าที่กลุ่มงานกิจการคณะกรรมการ ใช้จัดทำรายงานวินิจฉัยชี้มูล (ปปท. ๗-๐๒) ฐานความผิดรายบุคคล คำนวณอายุความ และร่างหนังสือลงโทษ ขั้นตอนหลักคือ บันทึกพฤติการณ์และฐานความผิดรายผู้ถูกกล่าวหา ระบบคำนวณอายุความอัตโนมัติ พรีวิวรายงาน/หนังสือ แล้วจัดทำรายงาน หน้าจอนี้รองรับกระบวนการย่อย 7.1–7.3 ใน User Flow และตรงกับข้อกำหนด FR-RES-302
[มุมธุรกิจ] ผู้ใช้ : กลุ่มงานกิจการคณะกรรมการ — พรีวิวรายงาน/หนังสือ แล้วจัดทำรายงาน
[มุม IT] FR-RES-302 → Page Code RES-19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ส่วนที่เหลือของหน้าจอหน้าจัดทำรายงานวินิจฉัยชี้มูล แสดงรายละเอียดต่อเนื่องเมื่อเลื่อนหน้าจอลง ได้แก่ หน้าจัดทำรายงานวินิจฉัยชี้มูล ส่วนที่ 2 หน้าจัดทำรายงานวินิจฉัยชี้มูล ส่วนที่ 3 หน้าจัดทำรายงานวินิจฉัยชี้มูล ส่วนที่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หน้าจอหน้าจัดทำคำสั่งแต่งตั้งผู้ไต่สวน สำหรับเจ้าหน้าที่กลุ่มงานกิจการคณะกรรมการ ใช้จัดทำคำสั่งแต่งตั้งผู้ไต่สวนตาม ม.24 (ปปท. ๕-๐๒/๕-๐๔) และร่างคำสั่งอัตโนมัติ ขั้นตอนหลักคือ เลือกที่มาสำนวน กำหนดแบบฟอร์มและเลขที่คำสั่ง กำหนดคณะผู้ไต่สวนและเจ้าของสำนวน พรีวิวร่างคำสั่ง แล้วส่งออกเพื่อลงนาม หน้าจอนี้รองรับกระบวนการย่อย 6.3 ใน User Flow และตรงกับข้อกำหนด FR-RES-303
[มุมธุรกิจ] ผู้ใช้ : กลุ่มงานกิจการคณะกรรมการ — พรีวิวร่างคำสั่ง แล้วส่งออกเพื่อลงนาม
[มุม IT] FR-RES-303 → Page Code RES-20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ส่วนที่เหลือของหน้าจอหน้าจัดทำคำสั่งแต่งตั้งผู้ไต่สวน แสดงรายละเอียดต่อเนื่องเมื่อเลื่อนหน้าจอลง ได้แก่ หน้าออกคำสั่งแต่งตั้งผู้ไต่สวน ส่วนที่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หัวข้อ 4.3 ระบบค้นหาและกรองข้อมูลคดี มีกลุ่มผู้ใช้งาน 1 กลุ่ม ได้แก่ 4.3.1 บุคลากรทุกกลุ่มงาน (ตามสิทธิ์) · 1 หน้าจอ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หน้าจอหน้าทะเบียนสำนวน สำหรับกลุ่มเลขาธิการคณะกรรมการ ป.ป.ท. / เจ้าหน้าที่ผู้ปฏิบัติงานทุกกลุ่มงาน ใช้สืบค้นขั้นสูงในทะเบียนสำนวนทั้งหมด ติดตามงานค้าง SLA กรอบเวลา ม.23 และส่งออกรายงาน ขั้นตอนหลักคือ ระบุเงื่อนไขค้นหาหรือใช้ Quick Filters ตรวจสถานะงานค้างและ SLA ส่งออก Excel/CSV, Word, PDF หน้าจอนี้รองรับกระบวนการย่อย 8.1 ใน User Flow และตรงกับข้อกำหนด FR-RES-702
[มุมธุรกิจ] ผู้ใช้ : บุคลากรทุกกลุ่มงาน (ตามสิทธิ์) — ส่งออก Excel/CSV, Word, PDF
[มุม IT] FR-RES-702 → Page Code RES-21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หัวข้อ 4.4 ระบบการแสดงผลข้อมูล มีกลุ่มผู้ใช้งาน 2 กลุ่ม ได้แก่ 4.4.1 กลุ่มเลขาธิการฯ / ผู้ปฏิบัติงาน · 1 หน้าจอ 4.4.2 ผู้บริหารและคณะกรรมการ ป.ป.ท. · 1 หน้าจอ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 Dashboard สถิติมติคณะกรรมการ ป.ป.ท. สำหรับกลุ่มเลขาธิการคณะกรรมการ ป.ป.ท. / เจ้าหน้าที่ผู้ปฏิบัติงาน ใช้ติดตามผลการดำเนินการตามมติของหน่วยงานภายนอก (ม.38 ภายใน 60 วัน / ม.44 ภายใน 90 วัน) พร้อมแจ้งเตือน ขั้นตอนหลักคือ ตรวจ SLA Alerts ที่เกินหรือใกล้ครบกำหนด กรองตามหน่วยงานหรือเลขสำนวน บันทึกผลติดตาม และส่งออกรายงาน หน้าจอนี้รองรับกระบวนการย่อย 8.2 ใน User Flow และตรงกับข้อกำหนด FR-RES-802
[มุมธุรกิจ] ผู้ใช้ : กลุ่มเลขาธิการฯ / ผู้ปฏิบัติงาน — บันทึกผลติดตาม และส่งออกรายงาน
[มุม IT] FR-RES-802 → Page Code RES-22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หน้าจอหน้าแสดงข้อมูลสถิติมติ สำหรับกลุ่มเลขาธิการคณะกรรมการ ป.ป.ท. / ผู้บริหารและคณะกรรมการ ป.ป.ท. ใช้แดชบอร์ดสถิติมติคณะกรรมการ ป.ป.ท. KPI ตารางแบบรายงาน กบค. และสัดส่วนประเภทมติ ขั้นตอนหลักคือ เลือกรอบเดือน ปีงบประมาณ หรือคณะอนุกรรมการ ตรวจ KPI Cards และแผนภูมิ ส่งออกตาราง / พิมพ์ PDF หน้าจอนี้รองรับกระบวนการย่อย 8.2 ใน User Flow และตรงกับข้อกำหนด FR-RES-801
[มุมธุรกิจ] ผู้ใช้ : ผู้บริหารและคณะกรรมการ ป.ป.ท. — ส่งออกตาราง / พิมพ์ PDF
[มุม IT] FR-RES-801 → Page Code RES-23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 5 Prototype และข้อกำหนดระบบ เป็นเอกสารที่ทีมพัฒนาใช้ลงมือสร้างหน้าจอจริง แต่ละหน้าจอมี Page Code, Path, SDD ID และเงื่อนไขการแสดงผล ภาพ Prototype ในส่วนนี้อยู่ระหว่างปรับแก้ จึงเว้นพื้นที่ภาพไว้ก่อน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ข้อกำหนดหน้าจอมี 23 รายการ ทุกรายการใช้โครงเดียวกัน 8 ส่วน ฝั่ง IT จะใช้ Page Code และ SDD ID อ้างถึงในเอกสารออกแบบระบบ ส่วน Condition และ Process ระบุพฤติกรรมของหน้าจอ เช่น การตรวจสอบ Token ทุก Action
[มุมธุรกิจ] Description และ Condition ใช้ตรวจว่าหน้าจอตรงกับวิธีทำงานจริงหรือไม่
[มุม IT] Page / Page Code / SDD ID เป็นตัวเชื่อมไปยัง SDD และ Test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รายการหน้าจอ Prototype ของระบบจัดทำทะเบียนคุมรายงานไต่สวนและจัดเก็บสำนวนคดีอิเล็กทรอนิกส์ RES-1 หน้ารายการพิจารณา/ลงนาม RES-2 หน้าพิจารณาและลงนามรายงาน RES-3 หน้ารายการสำนวนรอกลั่นกรอง RES-4 หน้ากลั่นกรองสำนวนซับซ้อน RES-5 หน้าทะเบียนวาระการประชุม RES-6 หน้ารายละเอียดวาระการประชุม RES-7 หน้าจัดทำเอกสารการประชุมคณะกรรมการ ป.ป.ท.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รายการหน้าจอ Prototype ของระบบจัดทำทะเบียนคุมรายงานไต่สวนและจัดเก็บสำนวนคดีอิเล็กทรอนิกส์ RES-8 หน้ารายการพิจารณาสั่งการและบรรจุวาระ RES-9 หน้าพิจารณาสั่งการบรรจุวาระและออกคำสั่ง ม.24 RES-10 หน้ารอบการประชุมและอ่านวาระล่วงหน้า RES-11 หน้ารายละเอียดวาระและสำนวนการประชุม RES-12 หน้ารายการสำนวนรอกลั่นกรองของคณะอนุกรรมการกลั่นกรองฯ RES-13 หน้าคณะอนุกรรมการกลั่นกรองเรื่องไต่สวนข้อเท็จจริง RES-14 หน้ารายการคดี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 หน้ารายการพิจารณา/ลงนาม เมนู ภาพรวม &gt; รายการพิจารณา ใช้ดูภาพรวมสำนวนที่เสนอตามลำดับชั้น รอพิจารณาและลงนาม พร้อมติดตาม SLA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SDD-A07-RES-1 | path res/sign-list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RES-2 หน้าพิจารณาและลงนามรายงาน เมนู ภาพรวม &gt; รายการพิจารณา &gt; พิจารณาและลงนามรายงาน ใช้ตรวจสำนวนและรายงาน ปปท. ๒-๑๓ สั่งการตาม ม.28 คัดกรองความซับซ้อน/ความเร่งด่วน และลงนามดิจิทัล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SDD-A07-RES-2 | path res/sign-detail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RES-3 หน้ารายการสำนวนรอกลั่นกรอง เมนู ภาพรวม &gt; รายการสำนวนรอกลั่นกรอง ใช้ดูรายการสำนวนซับซ้อนที่เลขาธิการฯ ส่งมาให้กลั่นกรอง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SDD-A07-RES-3 | path res/support-sub-inbox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RES-4 หน้ากลั่นกรองสำนวนซับซ้อน เมนู ภาพรวม &gt; รายการสำนวนรอกลั่นกรอง &gt; กลั่นกรองสำนวนซับซ้อน ใช้กลั่นกรองข้อเท็จจริงและข้อกฎหมาย ลงมติ 4 แนวทาง และจัดทำบันทึกความเห็นเสนอเลขาธิการฯ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SDD-A07-RES-4 | path res/support-sub-detail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RES-5 หน้าทะเบียนวาระการประชุม เมนู ภาพรวม &gt; ทะเบียนวาระการประชุม ใช้บริหารทะเบียนรอบการประชุม เปิดรอบใหม่ และจัดคิวสำนวนรอบรรจุวาระ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SDD-A07-RES-5 | path res/agenda-register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RES-6 หน้ารายละเอียดวาระการประชุม เมนู ภาพรวม &gt; ทะเบียนวาระการประชุม &gt; รายละเอียดวาระ ใช้จัดเรียงระเบียบวาระ เพิ่มสำนวนเข้าวาระ และดูสถิติความเห็นแย้ง/การรวมสำนวน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SDD-A07-RES-6 | path res/agenda-detail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RES-7 หน้าจัดทำเอกสารการประชุมคณะกรรมการ ป.ป.ท. เมนู ภาพรวม &gt; ทะเบียนวาระการประชุม &gt; รายละเอียดวาระ &gt; จัดทำเอกสารการประชุม ใช้จัดทำหนังสือเชิญประชุม ล็อกรายชื่อกรรมการ จัดการผู้มีส่วนได้เสียรายวาระ และสร้างระเบียบวาระอัตโนมัติ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SDD-A07-RES-7 | path res/meeting-docs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RES-8 หน้ารายการพิจารณาสั่งการและบรรจุวาระ เมนู ภาพรวม &gt; รายการพิจารณาสั่งการและบรรจุวาระ ใช้ติดตามคิวสำนวนที่รอสั่งการบรรจุวาระ (วาระด่วน/ปกติ) พร้อม SLA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SDD-A07-RES-8 | path res/order-agenda-list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RES-9 หน้าพิจารณาสั่งการบรรจุวาระและออกคำสั่ง ม.24 เมนู ภาพรวม &gt; สั่งการบรรจุวาระและออกคำสั่ง ม.24 ใช้สั่งการบรรจุวาระ (ปกติ/ด่วน เลือกรอบประชุม) และออกคำสั่งแต่งตั้งผู้ไต่สวนตาม ม.24 พร้อมลงนาม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SDD-A07-RES-9 | path res/order-agenda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RES-10 หน้ารอบการประชุมและอ่านวาระล่วงหน้า เมนู ภาพรวม &gt; รอบการประชุมและอ่านวาระล่วงหน้า ใช้ดูรอบการประชุมและอ่านระเบียบวาระล่วงหน้าก่อนประชุมอย่างน้อย 3 วัน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SDD-A07-RES-10 | path res/board-inbox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RES-11 หน้ารายละเอียดวาระและสำนวนการประชุม เมนู ภาพรวม &gt; รายละเอียดวาระและสำนวนการประชุม ใช้อ่านรายละเอียดวาระรายสำนวน พรีวิวเอกสาร และบันทึกความเห็นส่วนตัวก่อนประชุม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SDD-A07-RES-11 | path res/board-detail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RES-12 หน้ารายการสำนวนรอกลั่นกรองของคณะอนุกรรมการกลั่นกรองฯ เมนู ภาพรวม &gt; รายการสำนวนรอกลั่นกรองของคณะอนุกรรมการกลั่นกรองฯ ใช้ติดตามและตรวจรายการสำนวนที่ได้รับมอบหมายให้กลั่นกรอง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SDD-A07-RES-12 | path res/wait-review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RES-13 หน้าคณะอนุกรรมการกลั่นกรองเรื่องไต่สวนข้อเท็จจริง เมนู ภาพรวม &gt;  คณะอนุกรรมการกลั่นกรองเรื่องไต่สวนข้อเท็จจริง ใช้บันทึกผลประชุมกลั่นกรอง ตรวจองค์ประชุมอัตโนมัติ เลือกมติ และลงนามดิจิทัลรับรองมติ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SDD-A07-RES-13 | path res/screen-case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RES-14 หน้ารายการคดี เมนู ภาพรวม &gt; รายการคดี ใช้บริหารคิวสำนวนที่รอส่งเข้าคณะอนุกรรมการกลั่นกรองฯ พร้อมติดตาม SLA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SDD-A07-RES-14 | path res/list-case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รายการหน้าจอ Prototype ของระบบการสนับสนุนการพิจารณาของคณะกรรมการ ป.ป.ท. RES-15 หน้ารายการรอจัดทำมติ RES-16 หน้าบันทึกมติที่ประชุมคณะกรรมการ ป.ป.ท. RES-17 หน้าจัดทำรายงานมติการประชุมคณะกรรมการ ป.ป.ท. RES-18 หน้ารายการเรื่องที่ต้องจัดทำ RES-19 หน้าจัดทำรายงานวินิจฉัยชี้มูล RES-20 หน้าจัดทำคำสั่งแต่งตั้งผู้ไต่สวน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RES-15 หน้ารายการรอจัดทำมติ เมนู การประชุมคณะกรรมการ ป.ป.ท. &gt; รายการรอจัดทำมติ ใช้ดูรายการสำนวนที่ประชุมแล้วรอบันทึกมติ และติดตามการส่งต่อมติ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SDD-A07-RES-15 | path res/pending-resolution-list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RES-16 หน้าบันทึกมติที่ประชุมคณะกรรมการ ป.ป.ท. เมนู การประชุมคณะกรรมการ ป.ป.ท. &gt; รายการรอจัดทำมติ &gt; บันทึกมติที่ประชุม ใช้บันทึกองค์ประชุม การลงคะแนนรายบุคคล และผลมติ 8 ประเภทตามฐานอำนาจกฎหมาย พร้อมเอกสารมติอัตโนมัติ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SDD-A07-RES-16 | path res/record-resolution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RES-17 หน้าจัดทำรายงานมติการประชุมคณะกรรมการ ป.ป.ท. เมนู การประชุมคณะกรรมการ ป.ป.ท. &gt; จัดทำรายงานมติการประชุม ใช้รวบรวมมติทุกวาระในรอบประชุมเป็นรายงานการประชุมฉบับสมบูรณ์ และส่งออกเอกสาร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SDD-A07-RES-17 | path res/meeting-minutes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RES-18 หน้ารายการเรื่องที่ต้องจัดทำ เมนู ภาพรวม &gt; รายการเรื่องที่ต้องจัดทำ ใช้บริหารคิวงานหลังมติ: คำสั่งแต่งตั้ง ม.24 รายงานวินิจฉัยชี้มูล หนังสือลงโทษ และส่งเรื่องดำเนินคดี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SDD-A07-RES-18 | path res/tasks-to-do-list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RES-19 หน้าจัดทำรายงานวินิจฉัยชี้มูล เมนู ภาพรวม &gt; รายการเรื่องที่ต้องจัดทำ &gt; รายงานวินิจฉัยชี้มูล ใช้จัดทำรายงานวินิจฉัยชี้มูล (ปปท. ๗-๐๒) ฐานความผิดรายบุคคล คำนวณอายุความ และร่างหนังสือลงโทษ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SDD-A07-RES-19 | path res/ruling-report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RES-20 หน้าจัดทำคำสั่งแต่งตั้งผู้ไต่สวน เมนู ภาพรวม &gt; รายการเรื่องที่ต้องจัดทำ &gt; จัดทำคำสั่งแต่งตั้งผู้ไต่สวน ใช้จัดทำคำสั่งแต่งตั้งผู้ไต่สวนตาม ม.24 (ปปท. ๕-๐๒/๕-๐๔) และร่างคำสั่งอัตโนมัติ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SDD-A07-RES-20 | path res/order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รายการหน้าจอ Prototype ของระบบค้นหาและกรองข้อมูลคดี RES-21 หน้าทะเบียนสำนวน RES-22 หน้า Dashboard สถิติมติคณะกรรมการ ป.ป.ท. RES-23 หน้าแสดงข้อมูลสถิติมติ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RES-21 หน้าทะเบียนสำนวน เมนู ภาพรวม &gt; ทะเบียนสำนวน ใช้สืบค้นขั้นสูงในทะเบียนสำนวนทั้งหมด ติดตามงานค้าง SLA กรอบเวลา ม.23 และส่งออกรายงาน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SDD-A07-RES-21 | path res/case-registry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RES-22 หน้า Dashboard สถิติมติคณะกรรมการ ป.ป.ท. เมนู ภาพรวม &gt; Dashboard สถิติมติ ใช้ติดตามผลการดำเนินการตามมติของหน่วยงานภายนอก (ม.38 ภายใน 60 วัน / ม.44 ภายใน 90 วัน) พร้อมแจ้งเตือน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SDD-A07-RES-22 | path res/dashboard-statistics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ข้อกำหนดหน้าจอ RES-23 หน้าแสดงข้อมูลสถิติมติ เมนู ภาพรวม &gt; แสดงผลข้อมูลสถิติมติ ใช้แดชบอร์ดสถิติมติคณะกรรมการ ป.ป.ท. KPI ตารางแบบรายงาน กบค. และสัดส่วนประเภทมติ ภาพ Prototype อยู่ระหว่างปรับแก้ ใช้ Wireframe ในส่วนที่ 4 ประกอบการอธิบายได้
[มุมธุรกิจ] เทียบกับหน้าจอ Wireframe ในส่วนที่ 4
[มุม IT] SDD-A07-RES-23 | path res/display-statistics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ก่อนปิด ขอสรุปประเด็นที่ต้องยืนยันร่วมกัน 6 ข้อ ข้อ 1 ชื่อบทบาทมาตรฐานซึ่งกระทบทุกบท ข้อ 2 การใช้โครงหัวข้อตาม Process ข้อ 3 การออกหนังสือส่ง ป.ป.ช. ข้อ 4 ลำดับการขอเลขจากระบบสารบรรณ ข้อ 5 ประเภทมติอื่นๆ และข้อ 6 หน้าจอที่ยังไม่พบในบทที่ 4–5 เมื่อได้ข้อสรุปทีมจะปรับเล่ม ผัง และหน้าจอให้สอดคล้องกัน
[มุมธุรกิจ] ข้อ 1, 3, 5 ต้องการการตัดสินใจจากฝ่ายงาน
[มุม IT] ข้อ 4, 6 กระทบ SDD และหน้าจอ RES-19 / RES-20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ขอบคุณครับ/ค่ะ เปิดให้ซักถามและให้ความเห็นเพิ่มเติม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image" Target="../media/image-8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jpeg"/><Relationship Id="rId2" Type="http://schemas.openxmlformats.org/officeDocument/2006/relationships/image" Target="../media/image-91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image" Target="../media/image-107-2.png"/><Relationship Id="rId3" Type="http://schemas.openxmlformats.org/officeDocument/2006/relationships/image" Target="../media/image-10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image" Target="../media/image-111-2.png"/><Relationship Id="rId3" Type="http://schemas.openxmlformats.org/officeDocument/2006/relationships/image" Target="../media/image-1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914400"/>
            <a:ext cx="102870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โครงการพัฒนาระบบบริหารจัดการและติดตามสำนวนคดีทุจริตและประพฤติมิชอบในภาครัฐ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508760"/>
            <a:ext cx="10287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Electronic Case Management Intelligence System (E-CMIS)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240280"/>
            <a:ext cx="1028700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กิจกรรมที่ 7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3246120"/>
            <a:ext cx="1060704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ระบบบริหารจัดการกระบวนงานพิจารณาและดำเนินการ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ตามมติคณะกรรมการ ป.ป.ท.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5120640"/>
            <a:ext cx="10287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สรุปการออกแบบระบบ งวดที่ 2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5715000"/>
            <a:ext cx="10287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27 ตุลาคม 2569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หัวข้อการนำเสนอ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บทที่ 2–5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444752"/>
            <a:ext cx="566928" cy="566928"/>
          </a:xfrm>
          <a:prstGeom prst="ellipse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44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417320"/>
            <a:ext cx="43434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User Flow</a:t>
            </a:r>
            <a:endParaRPr lang="en-US" sz="29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103120"/>
            <a:ext cx="43434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8 กระบวนการหลัก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ผังขั้นตอนตามประเภทเรื่อง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6245352" y="11887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73952" y="1444752"/>
            <a:ext cx="566928" cy="566928"/>
          </a:xfrm>
          <a:prstGeom prst="ellipse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73952" y="1444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205472" y="1417320"/>
            <a:ext cx="43434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Context Diagram</a:t>
            </a:r>
            <a:endParaRPr lang="en-US" sz="2900" dirty="0"/>
          </a:p>
        </p:txBody>
      </p:sp>
      <p:sp>
        <p:nvSpPr>
          <p:cNvPr id="14" name="Text 11"/>
          <p:cNvSpPr txBox="1"/>
          <p:nvPr/>
        </p:nvSpPr>
        <p:spPr>
          <a:xfrm>
            <a:off x="7205472" y="2103120"/>
            <a:ext cx="43434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ผู้เกี่ยวข้องภายนอก 11 กลุ่ม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การรับ–ส่งข้อมูลกับระบบ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457200" y="37033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3959352"/>
            <a:ext cx="566928" cy="566928"/>
          </a:xfrm>
          <a:prstGeom prst="ellipse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931920"/>
            <a:ext cx="43434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Data Flow Diagram</a:t>
            </a:r>
            <a:endParaRPr lang="en-US" sz="29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617720"/>
            <a:ext cx="43434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กระบวนการระดับ 1–2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แหล่งจัดเก็บข้อมูล 16 ตาราง</a:t>
            </a:r>
            <a:endParaRPr lang="en-US" sz="2300" dirty="0"/>
          </a:p>
        </p:txBody>
      </p:sp>
      <p:sp>
        <p:nvSpPr>
          <p:cNvPr id="20" name="Shape 17"/>
          <p:cNvSpPr/>
          <p:nvPr/>
        </p:nvSpPr>
        <p:spPr>
          <a:xfrm>
            <a:off x="6245352" y="37033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73952" y="3959352"/>
            <a:ext cx="566928" cy="566928"/>
          </a:xfrm>
          <a:prstGeom prst="ellipse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73952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4–5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7205472" y="3931920"/>
            <a:ext cx="43434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Wireframe และ Prototype</a:t>
            </a:r>
            <a:endParaRPr lang="en-US" sz="2900" dirty="0"/>
          </a:p>
        </p:txBody>
      </p:sp>
      <p:sp>
        <p:nvSpPr>
          <p:cNvPr id="24" name="Text 21"/>
          <p:cNvSpPr txBox="1"/>
          <p:nvPr/>
        </p:nvSpPr>
        <p:spPr>
          <a:xfrm>
            <a:off x="7205472" y="4617720"/>
            <a:ext cx="43434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หน้าจอตามกลุ่มผู้ใช้งาน 23 หน้าจอ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 RES-1 ถึง 23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ภาพรวมขอบเขตระบบ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บทที่ 1–5 | โครงหัวข้อ Process บทที่ 2 (27 ต.ค. 2569)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47188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16128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9164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ระบบงาน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332988" y="1143000"/>
            <a:ext cx="2647188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2988" y="116128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8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332988" y="169164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กระบวนการหลัก (Process)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08776" y="1143000"/>
            <a:ext cx="2647188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08776" y="116128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23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208776" y="169164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หน้าจอ / ข้อกำหนดหน้าจอ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084564" y="1143000"/>
            <a:ext cx="2647188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84564" y="116128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9084564" y="169164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ระบบที่เชื่อมต่อ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23160"/>
          <a:ext cx="112745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486400"/>
                <a:gridCol w="4050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กระบวนการ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ระบบงาน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ช่วงงาน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1–4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ระบบจัดทำทะเบียนคุมรายงานไต่สวนฯ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รับรายงาน → กลั่นกรอง → บรรจุวาระ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5–7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ระบบการสนับสนุนการพิจารณาของคณะกรรมการ ป.ป.ท.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ลงมติ → ดำเนินการตามมติ → ส่งดำเนินการ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8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ระบบค้นหาฯ / ระบบแสดงผลข้อมูล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ค้นหา แดชบอร์ด ส่งออกข้อมูล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457200" y="5120640"/>
            <a:ext cx="11274552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ระบบที่เชื่อมต่อ : ระบบกระบวนการดำเนินงานกล่าวหาร้องเรียนของสำนักงาน ป.ป.ท. (รับสำนวนส่งกลับเพื่อแนบใบด่วน) และระบบสารบรรณอิเล็กทรอนิกส์ สารบรรณกลาง สลธ. (ออกเลขคำสั่ง/เลขหนังสือ)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914400"/>
            <a:ext cx="5212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ส่วนที่ 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371600"/>
            <a:ext cx="52120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</a:t>
            </a:r>
            <a:endParaRPr lang="en-US" sz="10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971800"/>
            <a:ext cx="53949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ขั้นตอนการใช้งาน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ของผู้ใช้แต่ละกลุ่ม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846320"/>
            <a:ext cx="53949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User Flow / BPMN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672084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หัวข้อในส่วนนี้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675120" y="214884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0" y="2148840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1.1 ภาพรวมกระบวนการ (Overview Flow)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75120" y="294436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2944368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1.2–1.5 Process 1–4 ก่อนประชุมคณะกรรมการ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75120" y="373989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3739896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1.6–1.8 Process 5–7 ลงมติและดำเนินการตามมติ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675120" y="4535424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4535424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1.9 Process 8 ค้นหาและรายงานข้อมูลคดี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ขั้นตอนการใช้งานของผู้ใช้แต่ละกลุ่ม (User Flow)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2.1–2.2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8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กระบวนการหลัก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332988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2988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26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332988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08776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08776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16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208776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ผังขั้นตอน (Swimlane)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084564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84564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9084564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ประเภทเรื่องที่ใช้ผังร่วมกัน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455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513832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ชื่อกระบวนการหลัก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ระบบงาน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รับและตรวจสอบรายงานเสนอพิจารณา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ระบบจัดทำทะเบียนคุมรายงานไต่สวนฯ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กลั่นกรองสำนวนซับซ้อนยุ่งยาก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ระบบจัดทำทะเบียนคุมรายงานไต่สวนฯ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กลั่นกรองเรื่องก่อนเสนอคณะกรรมการ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ระบบจัดทำทะเบียนคุมรายงานไต่สวนฯ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บรรจุวาระการประชุมคณะกรรมการ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ระบบจัดทำทะเบียนคุมรายงานไต่สวนฯ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พิจารณาและจัดทำมติคณะกรรมการ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ระบบสนับสนุนการพิจารณาของคณะกรรมการฯ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6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ดำเนินการตามมติและออกคำสั่ง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ระบบสนับสนุนการพิจารณาของคณะกรรมการฯ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7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จัดทำรายงานวินิจฉัยชี้มูลและส่งดำเนินการ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ระบบสนับสนุนการพิจารณาของคณะกรรมการฯ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8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ค้นหาและรายงานข้อมูลคดี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ระบบค้นหาฯ / ระบบแสดงผลข้อมูล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1.1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ภาพรวมกระบวนการ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(Overview Flow)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เนื้อหาการนำเสนอ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8 กระบวนการหลักเรียงตามลำดับงาน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เส้นแยกตามความซับซ้อน ใบด่วน และผลมติ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84848" y="411022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384048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จุดเชื่อมต่อระบบภายนอก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784848" y="497890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86600" y="470916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ประเภทเรื่อง 3 เส้นทางในผังเดียว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ภาพรวมกระบวนการ (Overview Flow) V1.0.1 | เล่มที่ 4 กิจกรรมที่ 7 หัวข้อ 2.1.1 (ใหม่)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1.1 ภาพรวมกระบวนการ (Overview Flow)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ภาพรวมกระบวนการ (Overview Flow) V1.0.1 | หัวข้อ 2.1.1 (เสนอใหม่)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010221" y="1060704"/>
            <a:ext cx="4483478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1 ภาพรวมกระบวนการ (Overview Flow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6797" y="1097280"/>
            <a:ext cx="4410326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การอ่านภาพรวม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เส้นหลัก : 1 → 3 → 4 → 5 → 6 / 7 → สิ้นสุด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สำนวนซับซ้อน : 1 → 2 แล้ววนกลับ 1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มีใบด่วน : 1 → 4 ข้ามการกลั่นกรอง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เร่งด่วนแต่ไม่มีใบด่วน : ส่งกลับระบบกล่าวหาร้องเรียน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เรื่องทั่วไปที่สั่งการได้ : จบที่ 3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ผลมติ : ไม่ชี้มูล → 6 / ชี้มูลความผิด → 7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เส้นประ : ขอเลขคำสั่ง/เลขหนังสือจากระบบสารบรรณ (สลธ.)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8 ใช้งานได้ทุกช่วง (กล่องเส้นประ)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1.1 ประเภทเรื่อง 3 เส้นทาง ใช้ขั้นตอนชุดเดียวกัน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โครงหัวข้อ Process ชีต A ข้อ 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611880" cy="4023360"/>
          </a:xfrm>
          <a:prstGeom prst="rect">
            <a:avLst/>
          </a:prstGeom>
          <a:solidFill>
            <a:srgbClr val="F1F4FA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43000"/>
            <a:ext cx="3611880" cy="100584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179576"/>
            <a:ext cx="333756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รายงานการไต่สวนเบื้องต้น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783080"/>
            <a:ext cx="33375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RES001–RES033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258568"/>
            <a:ext cx="333756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ผัง 1-1 ถึง 1-5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มีเส้นทางสำนวนกองปราบ (3.1)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ผลมติ: ส่ง ป.ป.ช. / ส่งคืน / รับไว้ไต่สวน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SLA ไม่เกิน 30 วันต่อขั้นตอนหลัก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288536" y="1143000"/>
            <a:ext cx="3611880" cy="4023360"/>
          </a:xfrm>
          <a:prstGeom prst="rect">
            <a:avLst/>
          </a:prstGeom>
          <a:solidFill>
            <a:srgbClr val="F1F4FA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88536" y="1143000"/>
            <a:ext cx="3611880" cy="100584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25696" y="1179576"/>
            <a:ext cx="333756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รายงานการไต่สวนเพื่อวินิจฉัยชี้มูล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425696" y="1783080"/>
            <a:ext cx="33375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RES101–RES137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425696" y="2258568"/>
            <a:ext cx="333756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ผัง 2-1 ถึง 2-6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ประธานฯ คัดกรองความซับซ้อน (3.2)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ผลมติ: ชี้มูล / ไม่ชี้มูลความผิด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ชี้มูลแล้วไป Process 7 (อาญา/วินัย)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119872" y="1143000"/>
            <a:ext cx="3611880" cy="4023360"/>
          </a:xfrm>
          <a:prstGeom prst="rect">
            <a:avLst/>
          </a:prstGeom>
          <a:solidFill>
            <a:srgbClr val="F1F4FA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19872" y="1143000"/>
            <a:ext cx="3611880" cy="100584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57032" y="1179576"/>
            <a:ext cx="333756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มติเรื่องทั่วไป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8257032" y="1783080"/>
            <a:ext cx="33375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RES201–RES219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257032" y="2258568"/>
            <a:ext cx="333756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ผัง 3-1 ถึง 3-3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ประธานฯ มอบหมาย/สั่งการได้ (3.5)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ผลมติ: มติอื่น / แต่งตั้งผู้ไต่สวน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SLA ไม่เกิน 15 วันต่อขั้นตอนหลัก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5349240"/>
            <a:ext cx="11274552" cy="914400"/>
          </a:xfrm>
          <a:prstGeom prst="rect">
            <a:avLst/>
          </a:prstGeom>
          <a:solidFill>
            <a:srgbClr val="FFF6DD"/>
          </a:solidFill>
          <a:ln w="12700">
            <a:solidFill>
              <a:srgbClr val="FFC653"/>
            </a:solidFill>
          </a:ln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ขั้นตอนที่ซ้ำกัน : RES001–013 ≡ RES101–113 และ RES019–026 ≡ RES121–128 ≡ RES208–215 จึงรวมเป็น Process เดียว และแยกเฉพาะ Process ย่อยที่ต่างกันจริง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1 · รับและตรวจสอบรายงานเสนอพิจารณา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(Process ย่อย)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1.1 ตรวจสอบรายการเสนอพิจารณา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177540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2907792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 ลงความเห็นและลงนามใบด่วน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84848" y="3982212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3712464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1.3 พิจารณาความซับซ้อนและความเร่งด่วน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784848" y="4786884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86600" y="4517136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1.4 ส่งสำนวนกลับเพื่อแนบใบด่วน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784848" y="5591556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6600" y="5321808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1.5 ให้ความเห็นและลงนามรายงานการไต่สวน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โครงหัวข้อ Process บทที่ 2 ชีต 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 Process 1 · ขั้นตอนและผู้รับผิดชอบ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รหัสขั้นตอนเรียง ไต่สวนเบื้องต้น | ชี้มูล | เรื่องทั่วไป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291840"/>
                <a:gridCol w="22402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ย่อย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รหัสขั้นตอน (RES / DEC)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ผู้ปฏิบัติ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ไปต่อ / ผลลัพธ์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1.1 ตรวจสอบรายการเสนอพิจารณา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DEC-001, RES001 | DEC-101, RES101 | DEC-201, RES201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เลขาธิการฯ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มีใบด่วน → 1.2 / ไม่มี → 1.3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1.2 ลงความเห็นและลงนามใบด่วน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RES002–003, 008 | RES102–103, 108 | RES202–203, 205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ผอ.กบค. / เลขาธิการฯ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Process 4 (เรื่องทั่วไปกลับ 1.3)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1.3 พิจารณาความซับซ้อนและความเร่งด่วน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RES004, DEC-002–003 | RES104, DEC-102–103 | RES204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เลขาธิการฯ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ซับซ้อน → P2 / ด่วน → 1.4 / ปกติ → 1.5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1.4 ส่งสำนวนกลับเพื่อแนบใบด่วน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RES006 | RES106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เลขาธิการฯ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สิ้นสุด → ระบบกล่าวหาร้องเรียน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1.5 ให้ความเห็นและลงนามรายงานการไต่สวน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RES007, DEC-004 | RES107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เลขาธิการฯ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Process 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 Process 1 · เส้นทางรายงานการไต่สวนเบื้องต้น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1-1 | เล่มที่ 4 กิจกรรมที่ 7 หัวข้อ 2.1.1.1 รูปภาพที่ 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266136"/>
            <a:ext cx="7662672" cy="4920089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2 Process 1 · เส้นทางรายงานการไต่สวนเบื้องต้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2712"/>
            <a:ext cx="7589520" cy="484693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DEC-001 แนบใบด่วนมาแล้ว? ใช่ → ผอ.กบค. (RES002–003)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DEC-002 ซับซ้อน? ใช่ → ส่งคณะอนุกรรมการสนับสนุนฯ (RES005)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DEC-003 เร่งด่วน? ใช่ → ส่งกลับแนบใบด่วน (RES006)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RES007 เลขาธิการฯ ให้ความเห็นและลงนาม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DEC-004 สำนวนกองปราบ? → C (RES014) / D (RES016)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 Process 1 · เส้นทางรายงานการไต่สวนเพื่อวินิจฉัยชี้มูล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2-1 | เล่มที่ 4 กิจกรรมที่ 7 หัวข้อ 2.1.1.2 รูปภาพที่ 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88808" y="1060704"/>
            <a:ext cx="7326303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2 Process 1 · เส้นทางรายงานการไต่สวนเพื่อวินิจฉัยชี้มู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384" y="1097280"/>
            <a:ext cx="7253151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โครงเดียวกับรายงานไต่สวนเบื้องต้น (RES101–108)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DEC-102 / DEC-103 ซับซ้อน / เร่งด่วน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RES107 ให้ความเห็นและลงนาม → ประธานฯ (RES114)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ไม่มีเส้นทางสำนวนกองปราบ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SLA ไม่เกิน 15 วัน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 Process 1 · เส้นทางมติเรื่องทั่วไป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3-1 | เล่มที่ 4 กิจกรรมที่ 7 หัวข้อ 2.1.1.3 รูปภาพที่ 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632876" y="1060704"/>
            <a:ext cx="5238167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2 Process 1 · เส้นทางมติเรื่องทั่วไป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9452" y="1097280"/>
            <a:ext cx="5165015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DEC-201 แนบใบด่วนมาแล้ว?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RES201 ตรวจสอบรายการมติเรื่องทั่วไป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RES202–203 ผอ.กบค. ตรวจรายการด่วน/ลงความเห็น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RES204 พิจารณาความซับซ้อน → ส่งประธานฯ (RES206)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RES205 ลงนามใบด่วน แล้วกลับ RES204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1.3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2 · กลั่นกรองสำนวนซับซ้อนยุ่งยาก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(Process ย่อย)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2.1 จัดทำใบบันทึกซับซ้อนและจ่ายงาน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2.2 กลั่นกรองและเสนอความเห็นของคณะอนุกรรมการ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โครงหัวข้อ Process บทที่ 2 ชีต 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1.3 Process 2 · ขั้นตอนและผู้รับผิดชอบ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รหัสขั้นตอนเรียง ไต่สวนเบื้องต้น | ชี้มูล | เรื่องทั่วไป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291840"/>
                <a:gridCol w="22402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ย่อย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รหัสขั้นตอน (RES / DEC)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ผู้ปฏิบัติ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ไปต่อ / ผลลัพธ์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2.1 จัดทำใบบันทึกซับซ้อนและจ่ายงาน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RES009–011 | RES109–111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ผอ.กบค.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จ่ายงานให้คณะอนุกรรมการสนับสนุนฯ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2.2 กลั่นกรองและเสนอความเห็นของคณะอนุกรรมการ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RES012–013 | RES112–113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คณะอนุกรรมการสนับสนุนเลขาธิการฯ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ส่งความเห็นกลับ 1.5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1.3 Process 2 · เส้นทางรายงานการไต่สวนเบื้องต้น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1-2 | เล่มที่ 4 กิจกรรมที่ 7 หัวข้อ 2.1.1.1 รูปภาพที่ 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843145" y="1060704"/>
            <a:ext cx="8502663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3 Process 2 · เส้นทางรายงานการไต่สวนเบื้องต้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721" y="1097280"/>
            <a:ext cx="8429511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112745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4846320"/>
            <a:ext cx="110550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RES009 ผอ.กบค. ตรวจรายการรอกลั่นกรอง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RES010 จัดทำใบบันทึกซับซ้อน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RES011 จ่ายงานให้คณะอนุกรรมการสนับสนุนฯ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RES012–013 จัดทำความเห็นและกลั่นกรอง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ส่งกลับเลขาธิการฯ (RES007)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1.3 Process 2 · เส้นทางรายงานการไต่สวนเพื่อวินิจฉัยชี้มูล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2-2 | เล่มที่ 4 กิจกรรมที่ 7 หัวข้อ 2.1.1.2 รูปภาพที่ 6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843145" y="1060704"/>
            <a:ext cx="8502663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3 Process 2 · เส้นทางรายงานการไต่สวนเพื่อวินิจฉัยชี้มู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721" y="1097280"/>
            <a:ext cx="8429511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112745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4846320"/>
            <a:ext cx="110550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RES109–111 ผอ.กบค. จัดทำใบบันทึกและจ่ายงาน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RES112–113 คณะอนุกรรมการสนับสนุนฯ กลั่นกรอง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ส่งกลับเลขาธิการฯ (RES107)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SLA ไม่เกิน 15 วัน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1.4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3 · กลั่นกรองเรื่องก่อนเสนอคณะกรรมการ ป.ป.ท.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(Process ย่อย)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3.1 ลงนามบันทึกสำนวนกองปราบ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177540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2907792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3.2 คัดกรองสำนวนชี้มูลและมอบหมายจัดทำความเห็น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84848" y="3982212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3712464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จัดทำความเห็นเสนอคณะกรรมการ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784848" y="4786884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86600" y="4517136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พิจารณาเสนอมติโดยคณะอนุกรรมการกลั่นกรองฯ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784848" y="5591556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6600" y="5321808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3.5 มอบหมายหรือสั่งการหน่วยงานที่เกี่ยวข้อง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โครงหัวข้อ Process บทที่ 2 ชีต 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1.4 Process 3 · ขั้นตอนและผู้รับผิดชอบ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รหัสขั้นตอนเรียง ไต่สวนเบื้องต้น | ชี้มูล | เรื่องทั่วไป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291840"/>
                <a:gridCol w="22402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ย่อย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รหัสขั้นตอน (RES / DEC)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ผู้ปฏิบัติ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ไปต่อ / ผลลัพธ์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3.1 ลงนามบันทึกสำนวนกองปราบ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RES014–015 (เฉพาะไต่สวนเบื้องต้น)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ประธานกรรมการ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3.4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3.2 คัดกรองสำนวนชี้มูลและมอบหมายฯ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RES114, DEC-104, RES118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ประธานกรรมการ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ซับซ้อน → 3.4 / ไม่ซับซ้อน → 3.3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3.3 จัดทำความเห็นเสนอคณะกรรมการ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RES119–120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Process 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3.4 พิจารณาเสนอมติโดยคณะอนุฯ กลั่นกรอง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RES016–018 | RES115–117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กองบริหารคดี / คณะอนุกรรมการกลั่นกรองฯ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Process 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3.5 มอบหมายหรือสั่งการหน่วยงาน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RES206, DEC-202, RES207 (เรื่องทั่วไป)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ประธานกรรมการ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สั่งการ → สิ้นสุด / ไม่ → P4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1.4 Process 3 · เส้นทางรายงานการไต่สวนเบื้องต้น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1-3 | เล่มที่ 4 กิจกรรมที่ 7 หัวข้อ 2.1.1.1 รูปภาพที่ 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361777"/>
            <a:ext cx="7662672" cy="4728807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4 Process 3 · เส้นทางรายงานการไต่สวนเบื้องต้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98353"/>
            <a:ext cx="7589520" cy="465565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RES014–015 ประธานฯ ลงนามบันทึกกองปราบ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RES016 กองบริหารคดีส่งเรื่องเข้าคณะอนุฯ กลั่นกรอง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RES017 จัดทำใบบันทึกมติอนุกรรมการ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RES018 พิจารณาเสนอมติและเอกสาร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ไปบรรจุวาระ (RES019)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1.4 Process 3 · เส้นทางรายงานการไต่สวนเพื่อวินิจฉัยชี้มูล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2-3 | เล่มที่ 4 กิจกรรมที่ 7 หัวข้อ 2.1.1.2 รูปภาพที่ 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18882" y="1060704"/>
            <a:ext cx="6666156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4 Process 3 · เส้นทางรายงานการไต่สวนเพื่อวินิจฉัยชี้มู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458" y="1097280"/>
            <a:ext cx="6593004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RES114 ประธานฯ ลงรับและคัดกรองสำนวน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DEC-104 ซับซ้อนยุ่งยาก?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ใช่ → RES115–117 คณะอนุฯ กลั่นกรอง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ไม่ → RES118 ลงนามมอบหมาย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RES119–120 กลุ่มงานกิจการฯ จัดทำความเห็นเสนอ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1.4 Process 3 · เส้นทางมติเรื่องทั่วไป (ส่วนต้น)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3-2 | เล่มที่ 4 กิจกรรมที่ 7 หัวข้อ 2.1.1.3 รูปภาพที่ 10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957628"/>
            <a:ext cx="7662672" cy="353710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4 Process 3 · เส้นทางมติเรื่องทั่วไป (ส่วนต้น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94204"/>
            <a:ext cx="7589520" cy="34639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RES206 ประธานฯ ตรวจรายการที่เลขาธิการลงนามแล้ว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DEC-202 มอบหมาย/สั่งการหน่วยงาน?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ใช่ → RES207 สั่งการ แล้วสิ้นสุด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ไม่ → บรรจุวาระ (RES208)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1.5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4 · บรรจุวาระการประชุมคณะกรรมการ ป.ป.ท.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(Process ย่อย)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 ลงนามบรรจุวาระการประชุม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 จัดทำปกวาระและสร้างวาระการประชุม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โครงหัวข้อ Process บทที่ 2 ชีต 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1.5 Process 4 · ขั้นตอนและผู้รับผิดชอบ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รหัสขั้นตอนเรียง ไต่สวนเบื้องต้น | ชี้มูล | เรื่องทั่วไป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291840"/>
                <a:gridCol w="22402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ย่อย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รหัสขั้นตอน (RES / DEC)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ผู้ปฏิบัติ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ไปต่อ / ผลลัพธ์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4.1 ลงนามบรรจุวาระการประชุม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RES019–020 | RES121–122 | RES208–209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ประธานกรรมการ ป.ป.ท.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4.2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4.2 จัดทำปกวาระและสร้างวาระการประชุม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RES021–022 | RES123–124 | RES210–211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กลุ่มงานคำวินิจฉัยและมติคณะกรรมการ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Process 5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1.5 Process 4 · เส้นทางรายงานการไต่สวนเบื้องต้น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1-4 | เล่มที่ 4 กิจกรรมที่ 7 หัวข้อ 2.1.1.1 รูปภาพที่ 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326740"/>
            <a:ext cx="7662672" cy="4798881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5 Process 4 · เส้นทางรายงานการไต่สวนเบื้องต้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63316"/>
            <a:ext cx="7589520" cy="472572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รับเข้าจาก RES008 (ใบด่วน) และ RES018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RES019–020 ประธานฯ ลงนามบรรจุวาระ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RES021 จัดทำปกวาระ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RES022 สร้างวาระการประชุม → RES023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1.5 Process 4 · เส้นทางรายงานการไต่สวนเพื่อวินิจฉัยชี้มูล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2-4 | เล่มที่ 4 กิจกรรมที่ 7 หัวข้อ 2.1.1.2 รูปภาพที่ 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37773" y="1060704"/>
            <a:ext cx="6828373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5 Process 4 · เส้นทางรายงานการไต่สวนเพื่อวินิจฉัยชี้มู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349" y="1097280"/>
            <a:ext cx="6755221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รับเข้าจาก RES108, RES117, RES120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RES121–122 ประธานฯ ลงนามบรรจุวาระ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RES123–124 จัดทำปกวาระและสร้างวาระ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ไปลงมติ (RES125)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1.5 Process 4 · เส้นทางมติเรื่องทั่วไป (ส่วนหลัง)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3-2 | เล่มที่ 4 กิจกรรมที่ 7 หัวข้อ 2.1.1.3 รูปภาพที่ 10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957628"/>
            <a:ext cx="7662672" cy="353710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5 Process 4 · เส้นทางมติเรื่องทั่วไป (ส่วนหลัง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94204"/>
            <a:ext cx="7589520" cy="34639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RES208–209 ประธานฯ ลงนามบรรจุวาระ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RES210 จัดทำปกวาระ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RES211 สร้างวาระการประชุม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ไปลงมติ (RES212)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1.6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5 · พิจารณาและจัดทำมติคณะกรรมการ ป.ป.ท.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(Process ย่อย)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 จัดทำใบมติและใบบันทึกนำมติ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 ลงมติตามระเบียบวาระ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84848" y="411022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384048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5.3 จัดทำมติและคัดแยกผลมติ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โครงหัวข้อ Process บทที่ 2 ชีต 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1.6 Process 5 · ขั้นตอนและผู้รับผิดชอบ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รหัสขั้นตอนเรียง ไต่สวนเบื้องต้น | ชี้มูล | เรื่องทั่วไป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291840"/>
                <a:gridCol w="22402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ย่อย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รหัสขั้นตอน (RES / DEC)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ผู้ปฏิบัติ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ไปต่อ / ผลลัพธ์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 จัดทำใบมติและใบบันทึกนำมติ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RES023–024 | RES125–126 | RES212–213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กลุ่มงานคำวินิจฉัยและมติฯ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5.2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5.2 ลงมติตามระเบียบวาระ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RES025 | RES127 | RES214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คณะกรรมการ ป.ป.ท.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5.3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5.3 จัดทำมติและคัดแยกผลมติ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RES026, DEC-005–007 | RES128, DEC-105 | RES215, DEC-203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กลุ่มงานคำวินิจฉัยและมติฯ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ไม่ชี้มูล → P6 / ชี้มูล → P7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1.6 Process 5 · เส้นทางรายงานการไต่สวนเบื้องต้น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1-5 | เล่มที่ 4 กิจกรรมที่ 7 หัวข้อ 2.1.2.1 รูปภาพที่ 11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201913"/>
            <a:ext cx="7662672" cy="504853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6 Process 5 · เส้นทางรายงานการไต่สวนเบื้องต้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8489"/>
            <a:ext cx="7589520" cy="497538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RES023–024 ตรวจรายการรอลงมติ จัดทำใบมติ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RES025 คณะกรรมการ ป.ป.ท. ลงมติ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RES026 จัดทำมติตามความเห็นคณะกรรมการ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DEC-005 ส่ง ป.ป.ช.? / DEC-006 มติอื่น? / DEC-007 รับไว้ไต่สวน?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1.6 Process 5 · เส้นทางรายงานการไต่สวนเพื่อวินิจฉัยชี้มูล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2-5 | เล่มที่ 4 กิจกรรมที่ 7 หัวข้อ 2.1.2.2 รูปภาพที่ 12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957628"/>
            <a:ext cx="7662672" cy="353710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6 Process 5 · เส้นทางรายงานการไต่สวนเพื่อวินิจฉัยชี้มู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94204"/>
            <a:ext cx="7589520" cy="34639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RES125–126 ตรวจรายการรอลงมติ จัดทำใบมติ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RES127 คณะกรรมการ ป.ป.ท. ลงมติ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RES128 จัดทำมติ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DEC-105 ชี้มูลความผิด? ใช่ → Process 7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1.6 Process 5 · เส้นทางมติเรื่องทั่วไป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3-3 | เล่มที่ 4 กิจกรรมที่ 7 หัวข้อ 2.1.2.3 รูปภาพที่ 14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797118"/>
            <a:ext cx="7662672" cy="3858123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6 Process 5 · เส้นทางมติเรื่องทั่วไป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33694"/>
            <a:ext cx="7589520" cy="378497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RES212–213 ตรวจรายการรอมติ จัดทำใบมติ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RES214 ลงมติเรื่องทั่วไป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RES215 จัดทำมติ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DEC-203 มติอื่น? → ส่งเอกสาร / แต่งตั้งผู้ไต่สวน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1.7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6 · ดำเนินการตามมติและออกคำสั่ง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(Process ย่อย)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6.1 ส่งมติเพื่อจัดทำหนังสือส่งสำนักงาน ป.ป.ช.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6.2 ส่งมติและเอกสารคืนหน่วยงานที่รับผิดชอบ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84848" y="411022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384048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6.3 จัดทำคำสั่งแต่งตั้งและขอเลขจากระบบสารบรรณ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784848" y="497890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86600" y="470916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6.4 จัดทำรายงานการไต่สวนเพิ่มเติม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โครงหัวข้อ Process บทที่ 2 ชีต 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1.7 Process 6 · ขั้นตอนและผู้รับผิดชอบ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รหัสขั้นตอนเรียง ไต่สวนเบื้องต้น | ชี้มูล | เรื่องทั่วไป</a:t>
            </a:r>
            <a:endParaRPr lang="en-US" sz="15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291840"/>
                <a:gridCol w="22402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ย่อย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รหัสขั้นตอน (RES / DEC)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ผู้ปฏิบัติ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ไปต่อ / ผลลัพธ์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6.1 ส่งมติเพื่อจัดทำหนังสือส่ง ป.ป.ช.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RES027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สิ้นสุด — ผู้รับผิดชอบทำหนังสือต่อ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6.2 ส่งมติและเอกสารคืนหน่วยงาน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RES028 | RES129 | RES218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สิ้นสุด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6.3 จัดทำคำสั่งแต่งตั้งและขอเลข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RES029–031, 033, 032 | RES216, 219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สิ้นสุด / ระบบสารบรรณ (สลธ.)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6.4 จัดทำรายงานการไต่สวนเพิ่มเติม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RES217 (เรื่องทั่วไป)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 6.2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1.7 Process 6 · เส้นทางรายงานการไต่สวนเบื้องต้น (ส่วนหลัง)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1-5 | เล่มที่ 4 กิจกรรมที่ 7 หัวข้อ 2.1.2.1 รูปภาพที่ 11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201913"/>
            <a:ext cx="7662672" cy="504853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7 Process 6 · เส้นทางรายงานการไต่สวนเบื้องต้น (ส่วนหลัง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8489"/>
            <a:ext cx="7589520" cy="497538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RES027 ส่งมติคืนผู้รับผิดชอบเพื่อทำหนังสือส่ง ป.ป.ช.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RES028 ส่งมติและเอกสารคืนสำนักที่รับผิดชอบ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RES029–031 ใบบันทึกนำ คำสั่งแต่งตั้ง ใบส่งคำสั่ง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RES033 ขอเลขคำสั่ง/เลขหนังสือส่งจากระบบสารบรรณ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RES032 ส่งคำสั่งให้สำนักที่รับผิดชอบไต่สวน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1.7 Process 6 · เส้นทางรายงานการไต่สวนเพื่อวินิจฉัยชี้มูล (ส่วนหลัง)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2-5 | เล่มที่ 4 กิจกรรมที่ 7 หัวข้อ 2.1.2.2 รูปภาพที่ 12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957628"/>
            <a:ext cx="7662672" cy="353710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7 Process 6 · เส้นทางรายงานการไต่สวนเพื่อวินิจฉัยชี้มูล (ส่วนหลัง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94204"/>
            <a:ext cx="7589520" cy="34639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DEC-105 = ไม่ชี้มูล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RES129 ส่งรายงาน มติ และเอกสารคืน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สิ้นสุดกระบวนการในระบบ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1.7 Process 6 · เส้นทางมติเรื่องทั่วไป (ส่วนหลัง)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3-3 | เล่มที่ 4 กิจกรรมที่ 7 หัวข้อ 2.1.2.3 รูปภาพที่ 14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797118"/>
            <a:ext cx="7662672" cy="3858123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7 Process 6 · เส้นทางมติเรื่องทั่วไป (ส่วนหลัง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33694"/>
            <a:ext cx="7589520" cy="378497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DEC-203 = แต่งตั้งผู้ไต่สวน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RES216 จัดทำคำสั่งแต่งตั้ง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RES219 ขอเลขคำสั่งจากระบบสารบรรณ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RES217 จัดทำรายงานการไต่สวนเพิ่มเติม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RES218 ส่งเอกสารให้ผู้รับผิดชอบสำนวน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1.8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7 · จัดทำรายงานวินิจฉัยชี้มูลและส่งดำเนินการ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(Process ย่อย)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7.1 จัดทำและลงนามรายงานวินิจฉัยชี้มูล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7.2 ส่งเรื่องดำเนินคดีอาญา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84848" y="411022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384048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7.3 จัดทำหนังสือลงโทษทางวินัย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โครงหัวข้อ Process บทที่ 2 ชีต 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1.8 Process 7 · ขั้นตอนและผู้รับผิดชอบ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รหัสขั้นตอนเรียง ไต่สวนเบื้องต้น | ชี้มูล | เรื่องทั่วไป</a:t>
            </a:r>
            <a:endParaRPr lang="en-US" sz="15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291840"/>
                <a:gridCol w="22402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ย่อย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รหัสขั้นตอน (RES / DEC)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ผู้ปฏิบัติ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ไปต่อ / ผลลัพธ์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7.1 จัดทำและลงนามรายงานวินิจฉัยชี้มูล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RES130–132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กลุ่มงานกิจการฯ / คณะกรรมการ ป.ป.ท.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DEC-106 สายอาญา? → 7.2 / 7.3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7.2 ส่งเรื่องดำเนินคดีอาญา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DEC-106, RES135–136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กลุ่มงานกิจการคณะกรรมการ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สิ้นสุด / ระบบสารบรรณ (สลธ.)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7.3 จัดทำหนังสือลงโทษทางวินัย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RES133–134, RES137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กลุ่มงานกิจการคณะกรรมการ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สิ้นสุด / ระบบสารบรรณ (สลธ.)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1.8 Process 7 · จัดทำรายงานวินิจฉัยชี้มูลและดำเนินการทางวินัย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2-6 | เล่มที่ 4 กิจกรรมที่ 7 หัวข้อ 2.1.2.2 รูปภาพที่ 13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957628"/>
            <a:ext cx="7662672" cy="353710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8 Process 7 · จัดทำรายงานวินิจฉัยชี้มูลและดำเนินการทางวินั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94204"/>
            <a:ext cx="7589520" cy="34639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RES130–131 จัดทำใบบันทึกนำและรายงานวินิจฉัยชี้มูล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RES132 คณะกรรมการ ป.ป.ท. ลงนาม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DEC-106 สายอาญา?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อาญา: RES135 ขอเลขหนังสือ → RES136 ส่งเรื่อง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วินัย: RES133–134 → RES137 ขอเลขหนังสือ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1.9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 8 · ค้นหาและรายงานข้อมูลคดี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(Process ย่อย)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8.1 ค้นหาและกรองข้อมูลคดี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8.2 แสดงผลแดชบอร์ดและส่งออกข้อมูล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โครงหัวข้อ Process บทที่ 2 ชีต 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1.9 Process 8 · ขั้นตอนและผู้รับผิดชอบ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| เล่มที่ 4 กิจกรรมที่ 7 หัวข้อ 2.2 | รหัสขั้นตอนเรียง ไต่สวนเบื้องต้น | ชี้มูล | เรื่องทั่วไป</a:t>
            </a:r>
            <a:endParaRPr lang="en-US" sz="15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291840"/>
                <a:gridCol w="22402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ย่อย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รหัสขั้นตอน (RES / DEC)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ผู้ปฏิบัติ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ไปต่อ / ผลลัพธ์</a:t>
                      </a:r>
                      <a:endParaRPr lang="en-US" sz="22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8.1 ค้นหาและกรองข้อมูลคดี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RES053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บุคลากรสำนักงาน ป.ป.ท. (ตามสิทธิ์)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ใช้ได้ทุกช่วงของกระบวนการ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8.2 แสดงผลแดชบอร์ดและส่งออกข้อมูล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RES054–055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บุคลากรสำนักงาน ป.ป.ท. (ตามสิทธิ์)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ส่งออก Word / Excel / PDF</a:t>
                      </a:r>
                      <a:endParaRPr lang="en-US" sz="21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1.9 Process 8 · ระบบค้นหาและกรองข้อมูลคดี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4-1 | เล่มที่ 4 กิจกรรมที่ 7 หัวข้อ 2.1.3 รูปภาพที่ 15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466309"/>
            <a:ext cx="7662672" cy="451974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9 Process 8 · ระบบค้นหาและกรองข้อมูลคด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2885"/>
            <a:ext cx="7589520" cy="444659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RES053 ค้นหาและกรองข้อมูลคดีตามสิทธิ์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ใช้ได้ทุกช่วงของกระบวนการ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หน้าจอที่รองรับ : RES-21 ทะเบียนสำนวน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1.9 Process 8 · ระบบการแสดงผลข้อมูล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User Flow V1.0.4 ภาพ 5-1 | เล่มที่ 4 กิจกรรมที่ 7 หัวข้อ 2.1.4 รูปภาพที่ 16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859557" y="1060704"/>
            <a:ext cx="8469838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1.9 Process 8 · ระบบการแสดงผลข้อมู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6133" y="1097280"/>
            <a:ext cx="8396686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112745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4846320"/>
            <a:ext cx="110550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จุดสำคัญในผัง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RES054 เรียกดูข้อมูลในรูปแบบแดชบอร์ด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RES055 ส่งออก Word / Excel / PDF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หน้าจอที่รองรับ : RES-22, RES-23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914400"/>
            <a:ext cx="5212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ส่วนที่ 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371600"/>
            <a:ext cx="52120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</a:t>
            </a:r>
            <a:endParaRPr lang="en-US" sz="10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971800"/>
            <a:ext cx="53949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Context Diagram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3749040"/>
            <a:ext cx="53949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(Level 0)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672084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หัวข้อในส่วนนี้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675120" y="214884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0" y="2148840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2.1 สรุปผู้เกี่ยวข้องภายนอก (External Entity) 11 กลุ่ม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75120" y="294436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2944368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2.2 ภาพรวมขอบเขตระบบ (Process 0)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75120" y="373989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3739896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2.3 การรับ–ส่งข้อมูลรายผู้เกี่ยวข้อง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2.1 สรุปผู้เกี่ยวข้องภายนอก (External Entity) 11 กลุ่ม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3.1.1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161288"/>
            <a:ext cx="2651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ผู้พิจารณาและลงนาม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2606040"/>
            <a:ext cx="2377440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เลขาธิการคณะกรรมการ ป.ป.ท.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E3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ประธานกรรมการ ป.ป.ท.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E5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คณะกรรมการ ป.ป.ท.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E7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ผอ.กองบริหารคดี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3328416" y="1143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28416" y="1161288"/>
            <a:ext cx="2651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3328416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328416" y="246888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65576" y="2606040"/>
            <a:ext cx="2377440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E2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คณะอนุกรรมการสนับสนุนเลขาธิการฯ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E10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คณะอนุกรรมการกลั่นกรองเรื่องไต่สวนข้อเท็จจริง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199632" y="1143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99632" y="1161288"/>
            <a:ext cx="2651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4200" dirty="0"/>
          </a:p>
        </p:txBody>
      </p:sp>
      <p:sp>
        <p:nvSpPr>
          <p:cNvPr id="17" name="Text 14"/>
          <p:cNvSpPr txBox="1"/>
          <p:nvPr/>
        </p:nvSpPr>
        <p:spPr>
          <a:xfrm>
            <a:off x="6199632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กลุ่มงานในกองบริหารคดี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199632" y="246888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36792" y="2606040"/>
            <a:ext cx="2377440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E4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กลุ่มงานคำวินิจฉัยและมติคณะกรรมการ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E6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กลุ่มงานกิจการคณะกรรมการ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E9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กลุ่มงานบริหารคดีและบริหารทั่วไป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9070848" y="1143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070848" y="1161288"/>
            <a:ext cx="2651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</a:t>
            </a:r>
            <a:endParaRPr lang="en-US" sz="4200" dirty="0"/>
          </a:p>
        </p:txBody>
      </p:sp>
      <p:sp>
        <p:nvSpPr>
          <p:cNvPr id="22" name="Text 19"/>
          <p:cNvSpPr txBox="1"/>
          <p:nvPr/>
        </p:nvSpPr>
        <p:spPr>
          <a:xfrm>
            <a:off x="9070848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หน่วยงานและระบบภายนอก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070848" y="246888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08008" y="2606040"/>
            <a:ext cx="2377440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E8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หน่วยงานต้นเรื่อง/เจ้าของเรื่อง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E11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ระบบสารบรรณอิเล็กทรอนิกส์ (สารบรรณกลาง สลธ.)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2.2 ภาพรวมขอบเขตระบบ (Context Diagram Level 0)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Context Diagram (Level 0) V1.0.4 ภาพรวม | เล่มที่ 4 กิจกรรมที่ 7 หัวข้อ 3.1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290021" y="1060704"/>
            <a:ext cx="5923878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2.2 ภาพรวมขอบเขตระบบ (Context Diagram Level 0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6597" y="1097280"/>
            <a:ext cx="5850726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ขอบเขตระบบ (Process 0)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ระบบทั้งหมดแสดงเป็นกระบวนการเดียว (Process 0)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ผู้เกี่ยวข้องภายนอก 11 กลุ่ม (E1–E11)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ทุกเส้นกำกับชื่อข้อมูลที่ไหล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ในเล่มแยกเป็น 7 ภาพ ภาพละ 1–2 ผู้เกี่ยวข้อง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E11 ระบบสารบรรณ เพิ่มใน V1.0.4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2.2 ผู้เกี่ยวข้องภายนอก (1/2)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3.1.1</a:t>
            </a:r>
            <a:endParaRPr lang="en-US" sz="15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ผู้เกี่ยวข้อง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บทบาทต่อระบบ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E1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เลขาธิการคณะกรรมการ ป.ป.ท.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พิจารณาความซับซ้อน/ความเร่งด่วน ให้ความเห็นและลงนามรายงาน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E2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คณะอนุกรรมการสนับสนุนเลขาธิการฯ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กลั่นกรองสำนวนซับซ้อนที่ได้รับมอบหมาย แล้วส่งกลับเลขาธิการฯ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E3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ประธานกรรมการ ป.ป.ท.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พิจารณา สั่งการ และลงนามบรรจุวาระการประชุม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E4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กองบริหารคดี (กลุ่มงานคำวินิจฉัยและมติคณะกรรมการ)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นัดหมายวาระการประชุม บันทึกมติคณะกรรมการ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E5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คณะกรรมการ ป.ป.ท.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ลงมติสำนวนตามวาระการประชุม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E6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กองบริหารคดี (กลุ่มงานกิจการคณะกรรมการ)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จัดทำคำสั่งแต่งตั้ง รายงานวินิจฉัยชี้มูล หนังสือลงโทษ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2.2 ผู้เกี่ยวข้องภายนอก (2/2)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3.1.1</a:t>
            </a:r>
            <a:endParaRPr lang="en-US" sz="15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ผู้เกี่ยวข้อง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บทบาทต่อระบบ</a:t>
                      </a:r>
                      <a:endParaRPr lang="en-US" sz="20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E7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ผู้อำนวยการกองบริหารคดี (ผอ.กบค.)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ลงความเห็นเรื่องด่วน จ่ายงานสำนวนซับซ้อน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E8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หน่วยงานต้นเรื่อง/เจ้าของเรื่อง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จัดทำ/เสนอสำนวนและเรื่องทั่วไป รับมติและเอกสารกลับ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E9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กองบริหารคดี (กลุ่มงานบริหารคดีและบริหารทั่วไป)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รับสำนวนที่ได้รับมอบหมาย ส่งเรื่องเข้าคณะอนุฯ กลั่นกรอง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E10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คณะอนุกรรมการกลั่นกรองเรื่องไต่สวนข้อเท็จจริง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พิจารณาเสนอมติ ส่งหนังสือมติพร้อมสำนวน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E11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ระบบสารบรรณอิเล็กทรอนิกส์ (สารบรรณกลาง สลธ.)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ออกเลขคำสั่งและเลขหนังสือส่งออกตามคำขอจากระบบ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2.3 Context Diagram · ภาพแยก 1/7 : E1–E2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Context Diagram (Level 0) V1.0.4 หน้า 1/7 | เล่มที่ 4 กิจกรรมที่ 7 หัวข้อ 3.1 รูปภาพที่ 17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16972"/>
            <a:ext cx="7662672" cy="38184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2.3 Context Diagram · ภาพแยก 1/7 : E1–E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53548"/>
            <a:ext cx="7589520" cy="374526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ข้อมูลเข้า–ออก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 → ระบบ : ความเห็นและผลการลงนาม, คำสั่งส่งกลับสำนวนเร่งด่วน, คำสั่งมอบหมายสำนวนซับซ้อน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E1 : ข้อมูลสำนวนและเอกสารประกอบ, สำนวนที่กลั่นกรองแล้วพร้อมมติอนุกรรมการ, ผลการสืบค้นรายการไต่สวน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E2 → ระบบ : มติอนุกรรมการสนับสนุนเลขาธิการ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E2 : รายงานไต่สวนที่ซับซ้อน, ผลการสืบค้นรายการไต่สวน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2.3 Context Diagram · ภาพแยก 2/7 : E3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Context Diagram (Level 0) V1.0.4 หน้า 2/7 | เล่มที่ 4 กิจกรรมที่ 7 หัวข้อ 3.1 รูปภาพที่ 18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109382" y="1060704"/>
            <a:ext cx="9970187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2.3 Context Diagram · ภาพแยก 2/7 : E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958" y="1097280"/>
            <a:ext cx="9897035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112745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4846320"/>
            <a:ext cx="110550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E3 ประธานกรรมการ ป.ป.ท.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E3 → ระบบ : ผลการลงนามบันทึกกองปราบฯ, คำสั่งมอบหมายงาน, ผลพิจารณาความซับซ้อนสำนวนชี้มูล และอีก 1 รายการ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E3 : บันทึกเสนอจากกองปราบฯ, รายงานไต่สวน, รายการรอลงนามบรรจุวาระ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2.3 Context Diagram · ภาพแยก 3/7 : E4–E5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Context Diagram (Level 0) V1.0.4 หน้า 3/7 | เล่มที่ 4 กิจกรรมที่ 7 หัวข้อ 3.1 รูปภาพที่ 19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16972"/>
            <a:ext cx="7662672" cy="38184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2.3 Context Diagram · ภาพแยก 3/7 : E4–E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53548"/>
            <a:ext cx="7589520" cy="374526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ข้อมูลเข้า–ออก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E4 → ระบบ : ระเบียบวาระและหนังสือเชิญประชุม, ใบมติและรายงานมติ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E4 : คำสั่งบรรจุวาระการประชุม, มติคณะกรรมการ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E5 → ระบบ : มติที่ประชุม, คำสั่งคณะกรรมการ, รายงานวินิจฉัยชี้มูลที่ลงนามแล้ว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E5 : วาระการประชุม, รายงานวินิจฉัยชี้มูล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2.3 Context Diagram · ภาพแยก 4/7 : E6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Context Diagram (Level 0) V1.0.4 หน้า 4/7 | เล่มที่ 4 กิจกรรมที่ 7 หัวข้อ 3.1 รูปภาพที่ 20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85031"/>
            <a:ext cx="7662672" cy="3682299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2.3 Context Diagram · ภาพแยก 4/7 : E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1607"/>
            <a:ext cx="7589520" cy="360914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E6 กองบริหารคดี (กลุ่มงานกิจการคณะกรรมการ)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E6 → ระบบ : ผลพิจารณาความซับซ้อน, ความเห็นเสนอ, ร่างคำสั่งคณะกรรมการ และอีก 5 รายการ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E6 : รายงานไต่สวนวินิจฉัยชี้มูล, รายงานที่ได้รับมอบหมาย, คำสั่งคณะกรรมการ และอีก 1 รายการ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2.3 Context Diagram · ภาพแยก 5/7 : E7–E8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Context Diagram (Level 0) V1.0.4 หน้า 5/7 | เล่มที่ 4 กิจกรรมที่ 7 หัวข้อ 3.1 รูปภาพที่ 21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379750"/>
            <a:ext cx="7662672" cy="46928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2.3 Context Diagram · ภาพแยก 5/7 : E7–E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6326"/>
            <a:ext cx="7589520" cy="46197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ข้อมูลเข้า–ออก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E7 → ระบบ : คำสั่งจ่ายงานอนุกรรมการสนับสนุน, ความเห็นเรื่องเร่งด่วน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E7 : รายงานไต่สวนที่ซับซ้อน, รายการเรื่องเร่งด่วน, ผลการสืบค้นรายการไต่สวน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E8 → ระบบ : สำนวนไต่สวนและเรื่องทั่วไป, สำนวนเร่งด่วนพร้อมใบบันทึกนำด่วน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E8 : คำขอใบบันทึกนำด่วน, ผลการสืบค้นรายการไต่สวน, รายงานไต่สวนเบื้องต้นสำนวนกองปราบ และอีก 4 รายการ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2.3 Context Diagram · ภาพแยก 6/7 : E9–E10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Context Diagram (Level 0) V1.0.4 หน้า 6/7 | เล่มที่ 4 กิจกรรมที่ 7 หัวข้อ 3.1 รูปภาพที่ 22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851660" y="1060704"/>
            <a:ext cx="8485632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2.3 Context Diagram · ภาพแยก 6/7 : E9–E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236" y="1097280"/>
            <a:ext cx="8412480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112745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4846320"/>
            <a:ext cx="110550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ข้อมูลเข้า–ออก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E9 → ระบบ : หนังสือส่งเรื่องเข้าอนุกรรมการกลั่นกรอง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E9 : รายงานไต่สวนเบื้องต้นสำนวนเขตพื้นที่, รายงานที่ได้รับมอบหมาย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394960"/>
            <a:ext cx="54726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E10 → ระบบ : ข้อเสนอมติและเอกสาร, หนังสือส่งมติอนุกรรมการพร้อมสำนวน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E10 : รายงานที่ได้รับมอบหมาย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2.3 Context Diagram · ภาพแยก 7/7 : E11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Context Diagram (Level 0) V1.0.4 หน้า 7/7 | เล่มที่ 4 กิจกรรมที่ 7 หัวข้อ 3.1 รูปภาพที่ 23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66179" y="1060704"/>
            <a:ext cx="10656595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2.3 Context Diagram · ภาพแยก 7/7 : E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755" y="1097280"/>
            <a:ext cx="10583443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112745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" y="4846320"/>
            <a:ext cx="1127455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4846320"/>
            <a:ext cx="11055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E11 ระบบสารบรรณอิเล็กทรอนิกส์ (สารบรรณกลาง สลธ.)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669280"/>
            <a:ext cx="547268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E11 → ระบบ : เลขที่คำสั่งและเลขหนังสือส่ง, เลขหนังสือส่งเรื่องคดีอาญา, เลขหนังสือลงโทษทางวินัย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669280"/>
            <a:ext cx="547268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 → E11 : คำขอเลขคำสั่งและเลขหนังสือส่ง, คำขอเลขหนังสือส่งเรื่องคดีอาญา, คำขอเลขหนังสือลงโทษทางวินัย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914400"/>
            <a:ext cx="5212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ส่วนที่ 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371600"/>
            <a:ext cx="52120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10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971800"/>
            <a:ext cx="53949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Data Flow Diagram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3749040"/>
            <a:ext cx="53949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(Level 1–2)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672084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หัวข้อในส่วนนี้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675120" y="214884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0" y="2148840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3.1 กระบวนการระดับ 1 (Process) 6 กระบวนการ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75120" y="294436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2944368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3.2 แหล่งจัดเก็บข้อมูล (Data Store) 16 รายการ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75120" y="373989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3739896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รายผู้เกี่ยวข้อง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675120" y="4535424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4535424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กระบวนการย่อย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3.1 ภาพรวม Data Flow Diagram (Level 1)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3.2.1 | โครงหัวข้อ Process ชีต F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 (Level 1)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32988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2988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332988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 (Level 2)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08776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08776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16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208776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แหล่งจัดเก็บข้อมูล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084564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84564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11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9084564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ผู้เกี่ยวข้องภายนอก</a:t>
            </a:r>
            <a:endParaRPr lang="en-US" sz="16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45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486400"/>
                <a:gridCol w="265176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กระบวนการ (DFD Level 1)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ตรงกับ User Flow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Data Store หลัก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1.0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กระบวนการจัดทำสารบบคดีและจัดเก็บไฟล์อิเล็กทรอนิกส์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1–2 (และ 8.1)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D1–D4, D10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2.0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กระบวนการคัดแยกรายงานไต่สวนหลังเลขาธิการลงนาม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3 (3.1)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D1, D4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3.0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กระบวนการมอบหมายรายงานไต่สวนให้ผู้รับผิดชอบ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3 (3.2–3.4)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D1, D4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4.0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กระบวนการจัดทำมติคณะกรรมการ ป.ป.ท.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4–5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D2–D3, D5–D16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กระบวนการจัดทำคำสั่งคณะกรรมการ/สำนักงาน ป.ป.ท.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6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D11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6.0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กระบวนการจัดทำรายงานวินิจฉัยชี้มูลและหนังสือลงโทษทางวินัย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Process 7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D1, D3, D11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3.2 แหล่งจัดเก็บข้อมูล (Data Store) (1/2)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3.2.2 / 3.3.2</a:t>
            </a:r>
            <a:endParaRPr lang="en-US" sz="15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840480"/>
                <a:gridCol w="649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ตารางข้อมูล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ข้อมูลที่จัดเก็บ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tbl_cmp_case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สำนวนคดี/เรื่องกล่าวหา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D2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tbl_cmp_case_accused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ผู้ถูกกล่าวหาในสำนวนคดี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D3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tbl_res_accused_offense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เชื่อมผู้ถูกกล่าวหากับฐานความผิด/มาตราที่เลือกไว้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D4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tbl_res_attachment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ไฟล์แนบของสำนวน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D5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tbl_res_calendar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ทะเบียนการประชุมคณะกรรมการ ป.ป.ท.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D6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tbl_res_calendar_history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ประวัติการแก้ไขทะเบียนการประชุม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D7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tbl_res_calendar_item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รายการระเบียบวาระการประชุม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D8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tbl_res_calendar_item_case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การจับคู่สำนวนคดีกับรายการระเบียบวาระการประชุม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3.2 แหล่งจัดเก็บข้อมูล (Data Store) (2/2)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3.2.2 / 3.3.2</a:t>
            </a:r>
            <a:endParaRPr lang="en-US" sz="15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840480"/>
                <a:gridCol w="649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รหัส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ตารางข้อมูล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ข้อมูลที่จัดเก็บ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D9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tbl_res_calendar_item_history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ประวัติการแก้ไขรายการระเบียบวาระการประชุม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tbl_res_offense_basis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ฐานความผิด/มาตรา แยกตาม พ.ร.บ./ระเบียบ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D11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tbl_res_request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รายการเสนอเรื่องเพื่อขอมติคณะกรรมการ ป.ป.ท.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D12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tbl_res_request_event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Audit Trail กลาง บันทึกทุก state-transition ของรายการขอมติ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D13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tbl_res_request_history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ข้อมูลประวัติการดำเนินงานเสนอเรื่องขอมติคณะกรรมการ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D14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tbl_res_request_item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ข้อมูลรายการสำนวนคดีที่รวมเสนอขอมติคณะกรรมการ (กรณีรวมหลายสำนวน)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D15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tbl_res_board_attendance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ข้อมูลรายชื่อสถานะการเข้าประชุม และบันทึกความคิดเห็นแย้งรายบุคคลของกรรมการ ป.ป.ท. ในแต่ละวาระ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D16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tbl_res_user_note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ข้อคิดเห็นหรือประเด็นประมวลย่อส่วนตัว (Personal Note) ของผู้ใช้งานในแต่ละวาระ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1/11 : E1 กับ Process 1.0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1/11 | เล่มที่ 4 กิจกรรมที่ 7 หัวข้อ 3.2 รูปภาพที่ 24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060704"/>
            <a:ext cx="11347704" cy="3125651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3 DFD Level 1 · 1/11 : E1 กับ Process 1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1274552" cy="305249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332659"/>
            <a:ext cx="11274552" cy="202242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" y="4332659"/>
            <a:ext cx="1127455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4332659"/>
            <a:ext cx="11055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 เลขาธิการคณะกรรมการ ป.ป.ท.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155619"/>
            <a:ext cx="5472684" cy="110802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1.0 → E1 : ข้อมูลสำนวนและเอกสารประกอบ, สำนวนที่กลั่นกรองแล้วพร้อมมติอนุกรรมการ และอีก 1 รายการ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155619"/>
            <a:ext cx="5472684" cy="110802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 → 1.0 : ความเห็นและผลการลงนาม, คำสั่งส่งกลับสำนวนเร่งด่วน และอีก 1 รายการ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2/11 : E2 กับ Process 1.0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2/11 | เล่มที่ 4 กิจกรรมที่ 7 หัวข้อ 3.2 รูปภาพที่ 25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060704"/>
            <a:ext cx="11347704" cy="305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3 DFD Level 1 · 2/11 : E2 กับ Process 1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1274552" cy="29786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258808"/>
            <a:ext cx="11274552" cy="209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" y="4258808"/>
            <a:ext cx="1127455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4258808"/>
            <a:ext cx="11055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E2 คณะอนุกรรมการสนับสนุนเลขาธิการฯ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081768"/>
            <a:ext cx="5472684" cy="118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1.0 → E2 : รายงานไต่สวนที่ซับซ้อน, ผลการสืบค้นรายการไต่สวน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081768"/>
            <a:ext cx="5472684" cy="118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E2 → 1.0 : มติอนุกรรมการสนับสนุนเลขาธิการ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3/11 : E3 กับ Process 2.0, 3.0, 4.0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3/11 | เล่มที่ 4 กิจกรรมที่ 7 หัวข้อ 3.2 รูปภาพที่ 26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171814" y="1060704"/>
            <a:ext cx="6160292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3 DFD Level 1 · 3/11 : E3 กับ Process 2.0, 3.0, 4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8390" y="1097280"/>
            <a:ext cx="6087140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E3 ประธานกรรมการ ป.ป.ท.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2.0 → E3 : บันทึกเสนอจากกองปราบฯ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E3 → 2.0 : ผลการลงนามบันทึกกองปราบฯ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3.0 → E3 : รายงานไต่สวน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E3 → 3.0 : คำสั่งมอบหมายงาน, ผลพิจารณาความซับซ้อนสำนวนชี้มูล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4.0 → E3 : รายการรอลงนามบรรจุวาระ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E3 → 4.0 : ผลการลงนามบรรจุวาระ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4/11 : E4 กับ Process 4.0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4/11 | เล่มที่ 4 กิจกรรมที่ 7 หัวข้อ 3.2 รูปภาพที่ 27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553602"/>
            <a:ext cx="7662672" cy="4345157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3 DFD Level 1 · 4/11 : E4 กับ Process 4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90178"/>
            <a:ext cx="7589520" cy="42720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E4 กองบริหารคดี (กลุ่มงานคำวินิจฉัยและมติคณะกรรมการ)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4.0 → E4 : คำสั่งบรรจุวาระการประชุม, มติคณะกรรมการ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E4 → 4.0 : ระเบียบวาระและหนังสือเชิญประชุม, ใบมติและรายงานมติ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5/11 : E5 กับ Process 4.0, 5.0, 6.0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5/11 | เล่มที่ 4 กิจกรรมที่ 7 หัวข้อ 3.2 รูปภาพที่ 28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131275" y="1060704"/>
            <a:ext cx="6241370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3 DFD Level 1 · 5/11 : E5 กับ Process 4.0, 5.0, 6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7851" y="1097280"/>
            <a:ext cx="6168218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E5 คณะกรรมการ ป.ป.ท.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4.0 → E5 : วาระการประชุม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E5 → 4.0 : มติที่ประชุม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E5 → 5.0 : คำสั่งคณะกรรมการ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6.0 → E5 : รายงานวินิจฉัยชี้มูล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E5 → 6.0 : รายงานวินิจฉัยชี้มูลที่ลงนามแล้ว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6/11 : E6 กับ Process 2.0, 3.0, 5.0, 6.0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6/11 | เล่มที่ 4 กิจกรรมที่ 7 หัวข้อ 3.2 รูปภาพที่ 29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48062" y="1060704"/>
            <a:ext cx="7607797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3 DFD Level 1 · 6/11 : E6 กับ Process 2.0, 3.0, 5.0, 6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8" y="1097280"/>
            <a:ext cx="7534645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E6 กองบริหารคดี (กลุ่มงานกิจการคณะกรรมการ)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2.0 → E6 : รายงานไต่สวนวินิจฉัยชี้มูล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E6 → 2.0 : ผลพิจารณาความซับซ้อน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3.0 → E6 : รายงานที่ได้รับมอบหมาย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E6 → 3.0 : ความเห็นเสนอ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5.0 → E6 : คำสั่งคณะกรรมการ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E6 → 5.0 : ร่างคำสั่งคณะกรรมการ, คำสั่งแต่งตั้งผู้ไต่สวน และอีก 1 รายการ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6.0 → E6 : รายงานที่มีมติชี้มูลความผิด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E6 → 6.0 : ร่างรายงานวินิจฉัยชี้มูล, ร่างหนังสือลงโทษทางวินัย และอีก 1 รายการ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7/11 : E7 กับ Process 1.0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7/11 | เล่มที่ 4 กิจกรรมที่ 7 หัวข้อ 3.2 รูปภาพที่ 30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060704"/>
            <a:ext cx="11347704" cy="305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3 DFD Level 1 · 7/11 : E7 กับ Process 1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1274552" cy="29786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258808"/>
            <a:ext cx="11274552" cy="209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" y="4258808"/>
            <a:ext cx="1127455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4258808"/>
            <a:ext cx="11055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E7 ผู้อำนวยการกองบริหารคดี (ผอ.กบค.)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081768"/>
            <a:ext cx="5472684" cy="118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1.0 → E7 : รายงานไต่สวนที่ซับซ้อน, รายการเรื่องเร่งด่วน และอีก 1 รายการ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081768"/>
            <a:ext cx="5472684" cy="118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E7 → 1.0 : คำสั่งจ่ายงานอนุกรรมการสนับสนุน, ความเห็นเรื่องเร่งด่วน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8/11 : E8 กับ Process 1.0, 2.0, 4.0, 5.0, 6.0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8/11 | เล่มที่ 4 กิจกรรมที่ 7 หัวข้อ 3.2 รูปภาพที่ 31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029407" y="1060704"/>
            <a:ext cx="4445106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3 DFD Level 1 · 8/11 : E8 กับ Process 1.0, 2.0, 4.0, 5.0, 6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5983" y="1097280"/>
            <a:ext cx="4371954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E8 หน่วยงานต้นเรื่อง/เจ้าของเรื่อง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E8 → 1.0 : สำนวนไต่สวนและเรื่องทั่วไป, สำนวนเร่งด่วนพร้อมใบบันทึกนำด่วน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1.0 → E8 : คำขอใบบันทึกนำด่วน, ผลการสืบค้นรายการไต่สวน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2.0 → E8 : รายงานไต่สวนเบื้องต้นสำนวนกองปราบ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4.0 → E8 : มติคณะกรรมการและเอกสาร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5.0 → E8 : หนังสือคำสั่งคณะกรรมการ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6.0 → E8 : รายงานวินิจฉัยชี้มูล, หนังสือลงโทษทางวินัย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9/11 : E9 กับ Process 2.0, 3.0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9/11 | เล่มที่ 4 กิจกรรมที่ 7 หัวข้อ 3.2 รูปภาพที่ 32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41041" y="1060704"/>
            <a:ext cx="10306869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3 DFD Level 1 · 9/11 : E9 กับ Process 2.0, 3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617" y="1097280"/>
            <a:ext cx="10233717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112745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" y="4846320"/>
            <a:ext cx="1127455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4846320"/>
            <a:ext cx="11055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E9 กองบริหารคดี (กลุ่มงานบริหารคดีและบริหารทั่วไป)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669280"/>
            <a:ext cx="547268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2.0 → E9 : รายงานไต่สวนเบื้องต้นสำนวนเขตพื้นที่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E9 → 2.0 : หนังสือส่งเรื่องเข้าอนุกรรมการกลั่นกรอง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669280"/>
            <a:ext cx="547268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3.0 → E9 : รายงานที่ได้รับมอบหมาย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E9 → 3.0 : หนังสือส่งเรื่องเข้าอนุกรรมการกลั่นกรอง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10/11 : E10 กับ Process 3.0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10/11 | เล่มที่ 4 กิจกรรมที่ 7 หัวข้อ 3.2 รูปภาพที่ 33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060704"/>
            <a:ext cx="11347704" cy="2500381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3 DFD Level 1 · 10/11 : E10 กับ Process 3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1274552" cy="242722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3707389"/>
            <a:ext cx="11274552" cy="26476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" y="3707389"/>
            <a:ext cx="1127455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707389"/>
            <a:ext cx="11055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E10 คณะอนุกรรมการกลั่นกรองเรื่องไต่สวนข้อเท็จจริง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4530349"/>
            <a:ext cx="5472684" cy="17332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3.0 → E10 : รายงานที่ได้รับมอบหมาย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4530349"/>
            <a:ext cx="5472684" cy="17332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E10 → 3.0 : ข้อเสนอมติและเอกสาร, หนังสือส่งมติอนุกรรมการพร้อมสำนวน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 DFD Level 1 · 11/11 : E11 กับ Process 5.0, 6.0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1) V1.0.4 หน้า 11/11 | เล่มที่ 4 กิจกรรมที่ 7 หัวข้อ 3.2 รูปภาพที่ 34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348265" y="1060704"/>
            <a:ext cx="9492421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3 DFD Level 1 · 11/11 : E11 กับ Process 5.0, 6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841" y="1097280"/>
            <a:ext cx="9419269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112745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" y="4846320"/>
            <a:ext cx="1127455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4846320"/>
            <a:ext cx="11055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E11 ระบบสารบรรณอิเล็กทรอนิกส์ (สารบรรณกลาง สลธ.)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669280"/>
            <a:ext cx="547268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5.0 → E11 : คำขอเลขคำสั่งและเลขหนังสือส่ง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E11 → 5.0 : เลขที่คำสั่งและเลขหนังสือส่ง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49340" y="5669280"/>
            <a:ext cx="547268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6.0 → E11 : คำขอเลขหนังสือส่งเรื่องคดีอาญา, คำขอเลขหนังสือลงโทษทางวินัย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E11 → 6.0 : เลขหนังสือส่งเรื่องคดีอาญา, เลขหนังสือลงโทษทางวินัย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· Process 1.0 หน้า 1/3 : 1.1, 1.2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2) V1.0.4 | เล่มที่ 4 กิจกรรมที่ 7 หัวข้อ 3.3 รูปภาพที่ 35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664460" y="1060704"/>
            <a:ext cx="5175000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4 DFD Level 2 · Process 1.0 หน้า 1/3 : 1.1, 1.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1036" y="1097280"/>
            <a:ext cx="5101848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1.1 แสดงรายการพิจารณา/ลงนาม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แสดงรายการสำนวนไต่สวนเบื้องต้น/ไต่สวนเพื่อวินิจฉัยชี้มูล/มติเรื่องทั่วไป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1.1–1.2, 1.5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 สืบค้นข้อมูลสำนวนคดี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สืบค้นหรือกรองข้อมูลสำนวนไต่สวนเบื้องต้น/ไต่สวนเพื่อวินิจฉัยชี้มูล/มติเรื่องทั่วไป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8.1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· Process 1.0 หน้า 2/3 : 1.3, 1.4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2) V1.0.4 | เล่มที่ 4 กิจกรรมที่ 7 หัวข้อ 3.3 รูปภาพที่ 36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112813"/>
            <a:ext cx="7662672" cy="5226734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4 DFD Level 2 · Process 1.0 หน้า 2/3 : 1.3, 1.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9389"/>
            <a:ext cx="7589520" cy="515358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1.3 ส่งกลับสำนวนเร่งด่วนที่ไม่มีใบบันทึกนำด่วน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ส่งเอกสารที่เลขาธิการเห็นควรว่าเป็นเรื่องด่วน แต่ไม่มีใบด่วนแนบมาด้วยคืนให้กับหน่วยงานต้นเรื่อง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1.4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1.4 มอบหมายสำนวนที่ซับซ้อน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มอบหมาย/สั่งการหน่วยงานผู้รับผิดชอบหรือเกี่ยวข้อง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1.3, 2.1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· Process 1.0 หน้า 3/3 : 1.5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2) V1.0.4 | เล่มที่ 4 กิจกรรมที่ 7 หัวข้อ 3.3 รูปภาพที่ 37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060704"/>
            <a:ext cx="11347704" cy="36278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4 DFD Level 2 · Process 1.0 หน้า 3/3 : 1.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1274552" cy="35546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34844"/>
            <a:ext cx="11274552" cy="15202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" y="4834844"/>
            <a:ext cx="1127455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4834844"/>
            <a:ext cx="110550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383484"/>
            <a:ext cx="5472684" cy="8801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1.5 จัดทำมติอนุกรรมการสนับสนุนเลขาธิการ</a:t>
            </a:r>
            <a:endParaRPr lang="en-US" sz="17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จัดทำมติอนุกรรมการสนับสนุนเลขาธิการ</a:t>
            </a:r>
            <a:endParaRPr lang="en-US" sz="17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2.2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· Process 2.0 : 2.1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2) V1.0.4 | เล่มที่ 4 กิจกรรมที่ 7 หัวข้อ 3.3 รูปภาพที่ 38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20843" y="1060704"/>
            <a:ext cx="6862234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4 DFD Level 2 · Process 2.0 : 2.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419" y="1097280"/>
            <a:ext cx="6789082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2.1 คัดแยกเพื่อส่งกลับหรือส่งต่อรายงานไต่สวน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คัดแยกรายงานไต่สวนเบื้องต้น/รายการไต่สวนเพื่อวินิจฉัยชี้มูล ภายหลังเลขาธิการคณะกรรมการ ป.ป.ท. ลงนาม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3.1–3.2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· Process 3.0 : 3.1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2) V1.0.4 | เล่มที่ 4 กิจกรรมที่ 7 หัวข้อ 3.3 รูปภาพที่ 39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03542" y="1060704"/>
            <a:ext cx="6496837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4 DFD Level 2 · Process 3.0 : 3.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18" y="1097280"/>
            <a:ext cx="6423685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3.1 ส่งรายงานไต่สวนให้ผู้รับผิดชอบพิจารณา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มอบหมาย/สั่งการหน่วยงานผู้รับผิดชอบหรือเกี่ยวข้อง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3.2–3.5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· Process 4.0 : 4.1, 4.2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2) V1.0.4 | เล่มที่ 4 กิจกรรมที่ 7 หัวข้อ 3.3 รูปภาพที่ 40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606025" y="1060704"/>
            <a:ext cx="5291869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4 DFD Level 2 · Process 4.0 : 4.1, 4.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2601" y="1097280"/>
            <a:ext cx="5218717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 จัดทำวาระการประชุม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สร้างวาระประชุมตามคำสั่งของประธานกรรมการ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4.1–4.2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 บันทึกมติคณะกรรมการ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จัดทำรายงานมติตามมติของคณะกรรมการ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5.1–5.3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· Process 5.0 : 5.1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2) V1.0.4 | เล่มที่ 4 กิจกรรมที่ 7 หัวข้อ 3.3 รูปภาพที่ 41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50831" y="1060704"/>
            <a:ext cx="6602258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4 DFD Level 2 · Process 5.0 : 5.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407" y="1097280"/>
            <a:ext cx="6529106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 จัดทำคำสั่งคณะกรรมการ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จัดทำรายงานคำสั่งตามคำสั่งคณะกรรมการ ป.ป.ท. และ/หรือสำนักงาน ป.ป.ท. และขอเลขที่คำสั่งจากระบบสารบรรณอิเล็กทรอนิกส์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6.3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 DFD Level 2 · Process 6.0 : 6.1, 6.2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Data Flow Diagram (Level 2) V1.0.4 | เล่มที่ 4 กิจกรรมที่ 7 หัวข้อ 3.3 รูปภาพที่ 42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657474" y="1060704"/>
            <a:ext cx="5188971" cy="5330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3.4 DFD Level 2 · Process 6.0 : 6.1, 6.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4050" y="1097280"/>
            <a:ext cx="5115819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กระบวนการย่อย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645920"/>
            <a:ext cx="3236976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6.1 จัดทำรายงานวินิจฉัยชี้มูล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จัดทำรายงานการไต่สวนวินิจฉัยชี้มูล และมอบหมาย/สั่งการหน่วยงานผู้รับผิดชอบหรือเกี่ยวข้องตามรายงานการไต่สวนวินิจฉัยชี้มูล และหนังสือลงโทษทางวินัยของคณะกรรมการ…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7.1–7.2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6.2 จัดทำหนังสือลงโทษทางวินัย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จัดทำหนังสือลงโทษทางวินัย และมอบหมาย/สั่งการหน่วยงานผู้รับผิดชอบหรือเกี่ยวข้องตามหนังสือลงโทษทางวินัย และขอเลขหนังสือจากระบบสารบรรณอิเล็กทรอนิกส์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 UF 7.3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914400"/>
            <a:ext cx="5212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ส่วนที่ 4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371600"/>
            <a:ext cx="52120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</a:t>
            </a:r>
            <a:endParaRPr lang="en-US" sz="10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971800"/>
            <a:ext cx="53949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แบบจำลองหน้าจอระบบ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3749040"/>
            <a:ext cx="53949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(Wireframe) และขั้นตอนการทำงาน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672084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หัวข้อในส่วนนี้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675120" y="214884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0" y="2148840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 ระบบจัดทำทะเบียนคุมฯ · 7 กลุ่มผู้ใช้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75120" y="294436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2944368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 ระบบสนับสนุนการพิจารณาฯ · 2 กลุ่มผู้ใช้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75120" y="373989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3739896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4.3 ระบบค้นหาและกรองข้อมูลคดี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675120" y="4535424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4535424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4.4 ระบบการแสดงผลข้อมูล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 แบบจำลองหน้าจอระบบ (Wireframe)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บทที่ 4 รูปภาพที่ 43–83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23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หน้าจอทั้งหมด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332988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2988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14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332988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ระบบทะเบียนคุมฯ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08776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08776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208776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ระบบสนับสนุนฯ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084564" y="1097280"/>
            <a:ext cx="2647188" cy="896112"/>
          </a:xfrm>
          <a:prstGeom prst="roundRect">
            <a:avLst>
              <a:gd name="adj" fmla="val 8163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84564" y="111556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9084564" y="164592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ระบบค้นหา / แสดงผล</a:t>
            </a:r>
            <a:endParaRPr lang="en-US" sz="180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45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49377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หัวข้อ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ระบบงาน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กลุ่มผู้ใช้งาน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หน้าจอ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4.1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ระบบจัดทำทะเบียนคุมรายงานไต่สวนฯ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เลขาธิการฯ, อนุฯ สนับสนุน, ประธานฯ, กลุ่มงานคำวินิจฉัยฯ, คณะกรรมการ, อนุฯ กลั่นกรอง, กลุ่มงานบริหารคดี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14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4.2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ระบบสนับสนุนการพิจารณาของคณะกรรมการฯ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กลุ่มงานคำวินิจฉัยและมติฯ, กลุ่มงานกิจการคณะกรรมการ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6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4.3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ระบบค้นหาและกรองข้อมูลคดี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บุคลากรทุกกลุ่มงาน (ตามสิทธิ์)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4.4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ระบบการแสดงผลข้อมูล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กลุ่มเลขาธิการฯ / ผู้บริหารและคณะกรรมการ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2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ระบบจัดทำทะเบียนคุมรายงานไต่สวนและจัดเก็บสำนวนคดีอิเล็กทรอนิกส์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กลุ่มผู้ใช้งานในส่วนนี้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0428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4.1.1 เลขาธิการคณะกรรมการ ป.ป.ท. · 2 หน้าจอ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784848" y="2907792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2706624"/>
            <a:ext cx="4663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4.1.2 คณะอนุกรรมการสนับสนุนเลขาธิการฯ · 2 หน้าจอ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784848" y="3511296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3310128"/>
            <a:ext cx="4663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4.1.3 ประธานกรรมการ ป.ป.ท. · 2 หน้าจอ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784848" y="4114800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86600" y="3913632"/>
            <a:ext cx="4663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4.1.4 กลุ่มงานคำวินิจฉัยและมติคณะกรรมการ · 3 หน้าจอ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784848" y="4718304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6600" y="4517136"/>
            <a:ext cx="4663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4.1.5 คณะกรรมการ ป.ป.ท. · 2 หน้าจอ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784848" y="532180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8660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4.1.6 คณะอนุกรรมการกลั่นกรองฯ · 2 หน้าจอ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784848" y="5925312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86600" y="5724144"/>
            <a:ext cx="4663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4.1.7 กลุ่มงานบริหารคดีและบริหารทั่วไป · 1 หน้าจอ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4.1.1 หน้ารายการพิจารณา/ลงนาม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4.1.1 | รูปภาพที่ 43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1.1 หน้ารายการพิจารณา/ลงนา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เลขาธิการคณะกรรมการ ป.ป.ท.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ดูภาพรวมสำนวนที่เสนอตามลำดับชั้น รอพิจารณาและลงนาม พร้อมติดตาม SLA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กรองจากการ์ดสรุปสถานะ หรือค้นหาเลขสำนวน/บุคคล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ตรวจสถานะและกำหนดเวลา SLA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กด "ดำเนินการ" เพื่อเข้าหน้าพิจารณาและลงนาม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1.1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FR-RES-101 | Page Code RES-1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4.1.1 หน้าพิจารณาและลงนามรายงาน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4.1.1 | รูปภาพที่ 44–47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1.1 หน้าพิจารณาและลงนามรายงา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เลขาธิการคณะกรรมการ ป.ป.ท.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ตรวจสำนวนและรายงาน ปปท. ๒-๑๓ สั่งการตาม ม.28 คัดกรองความซับซ้อน/ความเร่งด่วน และลงนามดิจิทัล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ดูรายงานและไทม์ไลน์การเสนอตามลำดับชั้น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ระบุคำสั่ง ม.28 และความซับซ้อน/เร่งด่วน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ให้ความเห็นและลงลายมือชื่อดิจิทัล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1.2–1.5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FR-RES-102 | Page Code RES-2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4.1.1 หน้าพิจารณาและลงนามรายงาน · ส่วนที่ 2–4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4.1.1 | รูปภาพที่ 45–47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44967" y="1069848"/>
            <a:ext cx="434744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รูปภาพที่ 45 หน้าพิจารณาและลงนามรายงาน ส่วนที่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399" y="1097280"/>
            <a:ext cx="4292579" cy="20665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200400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45 หน้าพิจารณาและลงนามรายงาน ส่วนที่ 2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796543" y="1069848"/>
            <a:ext cx="434744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9" name="Image 1" descr="รูปภาพที่ 46 หน้าพิจารณาและลงนามรายงาน ส่วนที่ 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975" y="1097280"/>
            <a:ext cx="4292579" cy="20665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208776" y="3200400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46 หน้าพิจารณาและลงนามรายงาน ส่วนที่ 3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1044967" y="3785616"/>
            <a:ext cx="434744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12" name="Image 2" descr="รูปภาพที่ 47 หน้าพิจารณาและลงนามรายงาน ส่วนที่ 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399" y="3813048"/>
            <a:ext cx="4292579" cy="20665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57200" y="5916168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47 หน้าพิจารณาและลงนามรายงาน ส่วนที่ 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4.1.2 หน้ารายการสำนวนรอกลั่นกรอง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4.1.2 | รูปภาพที่ 48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1.2 หน้ารายการสำนวนรอกลั่นกรอ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คณะอนุกรรมการสนับสนุนเลขาธิการฯ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ดูรายการสำนวนซับซ้อนที่เลขาธิการฯ ส่งมาให้กลั่นกรอง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กรองตามสถานะหรือค้นหาเลขสำนวน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ตรวจลำดับความสำคัญและ SLA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เปิดหน้ากลั่นกรองสำนวนซับซ้อน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2.1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FR-RES-401 | Page Code RES-3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4.1.2 หน้ากลั่นกรองสำนวนซับซ้อน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4.1.2 | รูปภาพที่ 49–51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1.2 หน้ากลั่นกรองสำนวนซับซ้อ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คณะอนุกรรมการสนับสนุนเลขาธิการฯ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กลั่นกรองข้อเท็จจริงและข้อกฎหมาย ลงมติ 4 แนวทาง และจัดทำบันทึกความเห็นเสนอเลขาธิการฯ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ตรวจรายงานข้อเท็จจริงและพยานหลักฐาน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เลือกแนวทาง: ชี้มูล / ไต่สวนเพิ่ม / ส่งหน่วยงานอื่น / ยุติ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บันทึกและส่งผลกลับเลขาธิการฯ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2.2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FR-RES-402 | Page Code RES-4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4.1.2 หน้ากลั่นกรองสำนวนซับซ้อน · ส่วนที่ 2–3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4.1.2 | รูปภาพที่ 50–51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9768" y="1435608"/>
            <a:ext cx="5577840" cy="2713749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รูปภาพที่ 50 หน้ากลั่นกรองสำนวนซับซ้อน ส่วนที่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522976" cy="265888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158501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50 หน้ากลั่นกรองสำนวนซับซ้อน ส่วนที่2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181344" y="1435608"/>
            <a:ext cx="5577840" cy="2713749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9" name="Image 1" descr="รูปภาพที่ 51 หน้ากลั่นกรองสำนวนซับซ้อน ส่วนที่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1463040"/>
            <a:ext cx="5522976" cy="265888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208776" y="4158501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51 หน้ากลั่นกรองสำนวนซับซ้อน ส่วนที่3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4.1.3 หน้ารายการพิจารณาสั่งการและบรรจุวาระ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4.1.3 | รูปภาพที่ 52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1.3 หน้ารายการพิจารณาสั่งการและบรรจุวาร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ประธานกรรมการ ป.ป.ท.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ติดตามคิวสำนวนที่รอสั่งการบรรจุวาระ (วาระด่วน/ปกติ) พร้อม SLA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กรองจากการ์ดสรุป เช่น วาระด่วน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ตรวจข้อมูลสำนวน หน่วยงานที่เสนอ และ SLA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กด "พิจารณาสั่งการ"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3.1, 3.2, 4.1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FR-RES-201 | Page Code RES-8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4.1.3 หน้าพิจารณาสั่งการบรรจุวาระและออกคำสั่ง ม.24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4.1.3 | รูปภาพที่ 53–55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9162"/>
            <a:ext cx="7662672" cy="371403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1.3 หน้าพิจารณาสั่งการบรรจุวาระและออกคำสั่ง ม.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05738"/>
            <a:ext cx="7589520" cy="364088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ประธานกรรมการ ป.ป.ท.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สั่งการบรรจุวาระ (ปกติ/ด่วน เลือกรอบประชุม) และออกคำสั่งแต่งตั้งผู้ไต่สวนตาม ม.24 พร้อมลงนาม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ตรวจสรุปข้อเท็จจริงและความเห็นเลขาธิการฯ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ระบุคำสั่งบรรจุวาระ / คำสั่ง ม.24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บันทึกและลงนามดิจิทัล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3.2, 3.5, 4.1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FR-RES-202 | Page Code RES-9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4.1.3 หน้าพิจารณาสั่งการบรรจุวาระและออกคำสั่ง ม.24 · ส่วนที่ 2–3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4.1.3 | รูปภาพที่ 54–55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9768" y="1435608"/>
            <a:ext cx="5577840" cy="2703599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รูปภาพที่ 54 หน้าพิจารณาสั่งการบรรจุวาระและออกคำสั่ง ม.24 ส่วนที่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522976" cy="264873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148351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54 หน้าพิจารณาสั่งการบรรจุวาระและออกคำสั่ง ม.24 ส่วนที่ 2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181344" y="1435608"/>
            <a:ext cx="5577840" cy="2703599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9" name="Image 1" descr="รูปภาพที่ 55 หน้าพิจารณาสั่งการบรรจุวาระและออกคำสั่ง ม.24 ส่วนที่ 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1463040"/>
            <a:ext cx="5522976" cy="264873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208776" y="4148351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55 หน้าพิจารณาสั่งการบรรจุวาระและออกคำสั่ง ม.24 ส่วนที่ 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4.1.4 หน้าทะเบียนวาระการประชุม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4.1.4 | รูปภาพที่ 56–57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1.4 หน้าทะเบียนวาระการประชุ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กลุ่มงานคำวินิจฉัยและมติคณะกรรมการ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บริหารทะเบียนรอบการประชุม เปิดรอบใหม่ และจัดคิวสำนวนรอบรรจุวาระ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กรองคิวตามแท็บ (เรื่องใหม่ / จากอนุฯ / เลื่อน-ถอน)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กด "บรรจุวาระ" หรือ "+ เพิ่มการประชุม"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เข้าจัดการรายละเอียดวาระของรอบประชุม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4.2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FR-RES-601 | Page Code RES-5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4.1.4 หน้าทะเบียนวาระการประชุม · ส่วนที่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4.1.4 | รูปภาพที่ 57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336399" y="1069848"/>
            <a:ext cx="9516154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รูปภาพที่ 57 หน้าทะเบียนวาระการประชุม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831" y="1097280"/>
            <a:ext cx="9461290" cy="45628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696712"/>
            <a:ext cx="11274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57 หน้าทะเบียนวาระการประชุม-2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4.1.4 หน้ารายละเอียดวาระการประชุม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4.1.4 | รูปภาพที่ 58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59521"/>
            <a:ext cx="7662672" cy="37333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1.4 หน้ารายละเอียดวาระการประชุ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6097"/>
            <a:ext cx="7589520" cy="36601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กลุ่มงานคำวินิจฉัยและมติคณะกรรมการ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จัดเรียงระเบียบวาระ เพิ่มสำนวนเข้าวาระ และดูสถิติความเห็นแย้ง/การรวมสำนวน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กด "+ เพิ่มวาระ" นำสำนวนที่สั่งการแล้วเข้ารอบ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จัดลำดับวาระด้วยเลขลำดับหรือปุ่มเลื่อน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ส่งออก Excel/CSV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4.2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FR-RES-602 | Page Code RES-6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4.1.4 หน้าจัดทำเอกสารการประชุมคณะกรรมการ ป.ป.ท.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4.1.4 | รูปภาพที่ 59–60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1.4 หน้าจัดทำเอกสารการประชุมคณะกรรมการ ป.ป.ท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กลุ่มงานคำวินิจฉัยและมติคณะกรรมการ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จัดทำหนังสือเชิญประชุม ล็อกรายชื่อกรรมการ จัดการผู้มีส่วนได้เสียรายวาระ และสร้างระเบียบวาระอัตโนมัติ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ระบุเลขที่หนังสือ วัน เวลา สถานที่ ชั้นความลับ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กำหนดกรรมการที่เข้าประชุมรายวาระ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ยืนยันจัดวาระ ส่งประธานฯ สั่งการ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4.2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FR-RES-603 | Page Code RES-7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4.1.4 หน้าจัดทำเอกสารการประชุมคณะกรรมการ ป.ป.ท. · ส่วนที่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4.1.4 | รูปภาพที่ 60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328113" y="1069848"/>
            <a:ext cx="9532726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รูปภาพที่ 60 หน้ารายละเอียดวาระการประชุม ส่วนที่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5545" y="1097280"/>
            <a:ext cx="9477862" cy="45628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696712"/>
            <a:ext cx="11274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60 หน้ารายละเอียดวาระการประชุม ส่วนที่ 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4.1.5 หน้ารอบการประชุมและอ่านวาระล่วงหน้า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4.1.5 | รูปภาพที่ 61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59521"/>
            <a:ext cx="7662672" cy="37333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1.5 หน้ารอบการประชุมและอ่านวาระล่วงหน้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6097"/>
            <a:ext cx="7589520" cy="36601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คณะกรรมการ ป.ป.ท.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ดูรอบการประชุมและอ่านระเบียบวาระล่วงหน้าก่อนประชุมอย่างน้อย 3 วัน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เลือกรอบการประชุม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ตรวจวาระและสำนวนในแต่ละวาระ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เปิดอ่านรายงานและพยานหลักฐาน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5.2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FR-RES-203 | Page Code RES-10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4.1.5 หน้ารายละเอียดวาระและสำนวนการประชุม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4.1.5 | รูปภาพที่ 62–63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72114"/>
            <a:ext cx="7662672" cy="3708133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1.5 หน้ารายละเอียดวาระและสำนวนการประชุ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08690"/>
            <a:ext cx="7589520" cy="363498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คณะกรรมการ ป.ป.ท.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อ่านรายละเอียดวาระรายสำนวน พรีวิวเอกสาร และบันทึกความเห็นส่วนตัวก่อนประชุม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ศึกษาข้อกล่าวหาและรายงาน ปปท. ๒-๑๓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พรีวิวเอกสารพยานหลักฐาน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บันทึกข้อสังเกต/ประเด็นซักถามส่วนตัว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5.2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FR-RES-204 | Page Code RES-11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4.1.5 หน้ารายละเอียดวาระและสำนวนการประชุม · ส่วนที่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4.1.5 | รูปภาพที่ 63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303623" y="1069848"/>
            <a:ext cx="9581706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รูปภาพที่ 63 หน้ารายละเอียดวาระการประชุมและบันทึกความเห็นส่วนตัว ส่วนที่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055" y="1097280"/>
            <a:ext cx="9526842" cy="45628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696712"/>
            <a:ext cx="11274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63 หน้ารายละเอียดวาระการประชุมและบันทึกความเห็นส่วนตัว ส่วนที่ 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4.1.6 หน้ารายการสำนวนรอกลั่นกรองของคณะอนุกรรมการกลั่นกรองฯ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4.1.6 | รูปภาพที่ 64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1.6 หน้ารายการสำนวนรอกลั่นกรองของคณะอนุกรรมการกลั่นกรอง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คณะอนุกรรมการกลั่นกรองฯ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ติดตามและตรวจรายการสำนวนที่ได้รับมอบหมายให้กลั่นกรอง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ค้นหาหรือกรองสำนวน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ดูรายละเอียด หรือ "ดำเนินการ" เมื่อถึงขั้นกลั่นกรอง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ขอข้อมูลเพิ่มหรือส่งคืนเจ้าของสำนวน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3.4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FR-RES-604 | Page Code RES-12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4.1.6 หน้าคณะอนุกรรมการกลั่นกรองเรื่องไต่สวนข้อเท็จจริง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4.1.6 | รูปภาพที่ 65–66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83804"/>
            <a:ext cx="7662672" cy="368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1.6 หน้าคณะอนุกรรมการกลั่นกรองเรื่องไต่สวนข้อเท็จจริ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0380"/>
            <a:ext cx="7589520" cy="3611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คณะอนุกรรมการกลั่นกรองฯ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บันทึกผลประชุมกลั่นกรอง ตรวจองค์ประชุมอัตโนมัติ เลือกมติ และลงนามดิจิทัลรับรองมติ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กรอกครั้งที่/วันที่ประชุม และจำนวนผู้เข้าประชุม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เลือกมติ 1 ใน 4 ตัวเลือก พร้อมความเห็น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พรีวิวร่างมติ แล้วลงลายมือชื่อดิจิทัล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3.4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FR-RES-605 | Page Code RES-13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4.1.6 หน้าคณะอนุกรรมการกลั่นกรองเรื่องไต่สวนข้อเท็จจริง · ส่วนที่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4.1.6 | รูปภาพที่ 66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272786" y="1069848"/>
            <a:ext cx="964338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รูปภาพที่ 66 หน้าคณะอนุกรรมการกลั่นกรองเรื่องไต่สวนข้อเท็จจริง ส่วนที่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218" y="1097280"/>
            <a:ext cx="9588516" cy="45628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696712"/>
            <a:ext cx="11274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66 หน้าคณะอนุกรรมการกลั่นกรองเรื่องไต่สวนข้อเท็จจริง ส่วนที่ 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4.1.7 หน้ารายการคดี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4.1.7 | รูปภาพที่ 67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1.7 หน้ารายการคด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กลุ่มงานบริหารคดีและบริหารทั่วไป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บริหารคิวสำนวนที่รอส่งเข้าคณะอนุกรรมการกลั่นกรองฯ พร้อมติดตาม SLA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ดูสรุปการ์ด 4 สถานะ และค้นหาสำนวน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ตรวจคณะที่มอบหมายและ SLA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กด "ส่งเข้าคณะ" ระบบปรับสถานะอัตโนมัติ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3.4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FR-RES-901 | Page Code RES-14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ระบบการสนับสนุนการพิจารณาของคณะกรรมการ ป.ป.ท.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กลุ่มผู้ใช้งานในส่วนนี้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4.2.1 กลุ่มงานคำวินิจฉัยและมติคณะกรรมการ · 3 หน้าจอ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4.2.2 กลุ่มงานกิจการคณะกรรมการ · 3 หน้าจอ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4.2.1 หน้ารายการรอจัดทำมติ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4.2.1 | รูปภาพที่ 68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2.1 หน้ารายการรอจัดทำมต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กลุ่มงานคำวินิจฉัยและมติคณะกรรมการ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ดูรายการสำนวนที่ประชุมแล้วรอบันทึกมติ และติดตามการส่งต่อมติ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สลับแท็บคิวรอบันทึกมติ / ทะเบียนมติ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กรองจากการ์ด 7 สถานะ ตรวจ SLA 15 วัน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กด "บันทึกมติ"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5.1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FR-RES-501 | Page Code RES-15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4.2.1 หน้าบันทึกมติที่ประชุมคณะกรรมการ ป.ป.ท.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4.2.1 | รูปภาพที่ 69–72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2.1 หน้าบันทึกมติที่ประชุมคณะกรรมการ ป.ป.ท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กลุ่มงานคำวินิจฉัยและมติคณะกรรมการ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บันทึกองค์ประชุม การลงคะแนนรายบุคคล และผลมติ 8 ประเภทตามฐานอำนาจกฎหมาย พร้อมเอกสารมติอัตโนมัติ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บันทึกการเข้าประชุมและการลงมติรายท่าน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เลือกประเภทผลมติ ระบบเลือกแบบฟอร์มให้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พรีวิวและบันทึกมติที่ประชุม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5.3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FR-RES-502 | Page Code RES-16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4.2.1 หน้าบันทึกมติที่ประชุมคณะกรรมการ ป.ป.ท. · ส่วนที่ 2–4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4.2.1 | รูปภาพที่ 70–72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44967" y="1069848"/>
            <a:ext cx="434744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รูปภาพที่ 70 หน้าบันทึกมติที่ประชุมคณะกรรมการ ป.ป.ท. ส่วนที่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399" y="1097280"/>
            <a:ext cx="4292579" cy="20665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200400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70 หน้าบันทึกมติที่ประชุมคณะกรรมการ ป.ป.ท. ส่วนที่ 2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796543" y="1069848"/>
            <a:ext cx="434744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9" name="Image 1" descr="รูปภาพที่ 71 หน้าบันทึกมติที่ประชุมคณะกรรมการ ป.ป.ท. ส่วนที่ 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975" y="1097280"/>
            <a:ext cx="4292579" cy="20665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208776" y="3200400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71 หน้าบันทึกมติที่ประชุมคณะกรรมการ ป.ป.ท. ส่วนที่ 3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1044967" y="3785616"/>
            <a:ext cx="434744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12" name="Image 2" descr="รูปภาพที่ 72 หน้าบันทึกมติที่ประชุมคณะกรรมการ ป.ป.ท. ส่วนที่ 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399" y="3813048"/>
            <a:ext cx="4292579" cy="20665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57200" y="5916168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72 หน้าบันทึกมติที่ประชุมคณะกรรมการ ป.ป.ท. ส่วนที่ 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4.2.1 หน้าจัดทำรายงานมติการประชุมคณะกรรมการ ป.ป.ท.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4.2.1 | รูปภาพที่ 73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2.1 หน้าจัดทำรายงานมติการประชุมคณะกรรมการ ป.ป.ท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กลุ่มงานคำวินิจฉัยและมติคณะกรรมการ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รวบรวมมติทุกวาระในรอบประชุมเป็นรายงานการประชุมฉบับสมบูรณ์ และส่งออกเอกสาร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เลือกรอบ/ครั้งที่ประชุม และวาระ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ระบบรวมมติและพรีวิวเล่มรายงาน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ยืนยันรายงาน ส่งออก DOCX/พิมพ์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5.3, 6.2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FR-RES-503 | Page Code RES-17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4.2.2 หน้ารายการเรื่องที่ต้องจัดทำ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4.2.2 | รูปภาพที่ 74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2.2 หน้ารายการเรื่องที่ต้องจัดท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กลุ่มงานกิจการคณะกรรมการ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บริหารคิวงานหลังมติ: คำสั่งแต่งตั้ง ม.24 รายงานวินิจฉัยชี้มูล หนังสือลงโทษ และส่งเรื่องดำเนินคดี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กรองจากการ์ด 4 สถานะ หรือสถานะจัดทำ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ตรวจ SLA ของแต่ละสำนวน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กด "ดำเนินการ" ไปหน้าจอที่ตรงสถานะ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3.3, 6.3, 7.1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FR-RES-301 | Page Code RES-18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4.2.2 หน้าจัดทำรายงานวินิจฉัยชี้มูล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4.2.2 | รูปภาพที่ 75–78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62721"/>
            <a:ext cx="7662672" cy="372691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2.2 หน้าจัดทำรายงานวินิจฉัยชี้มู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9297"/>
            <a:ext cx="7589520" cy="36537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กลุ่มงานกิจการคณะกรรมการ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จัดทำรายงานวินิจฉัยชี้มูล (ปปท. ๗-๐๒) ฐานความผิดรายบุคคล คำนวณอายุความ และร่างหนังสือลงโทษ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บันทึกพฤติการณ์และฐานความผิดรายผู้ถูกกล่าวหา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ระบบคำนวณอายุความอัตโนมัติ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พรีวิวรายงาน/หนังสือ แล้วจัดทำรายงาน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7.1–7.3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FR-RES-302 | Page Code RES-19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4.2.2 หน้าจัดทำรายงานวินิจฉัยชี้มูล · ส่วนที่ 2–4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4.2.2 | รูปภาพที่ 76–78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44967" y="1069848"/>
            <a:ext cx="434744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รูปภาพที่ 76 หน้าจัดทำรายงานวินิจฉัยชี้มูล ส่วนที่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399" y="1097280"/>
            <a:ext cx="4292579" cy="20665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200400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76 หน้าจัดทำรายงานวินิจฉัยชี้มูล ส่วนที่ 2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796543" y="1069848"/>
            <a:ext cx="434744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9" name="Image 1" descr="รูปภาพที่ 77 หน้าจัดทำรายงานวินิจฉัยชี้มูล ส่วนที่ 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975" y="1097280"/>
            <a:ext cx="4292579" cy="20665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208776" y="3200400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77 หน้าจัดทำรายงานวินิจฉัยชี้มูล ส่วนที่ 3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1031502" y="3785616"/>
            <a:ext cx="4374373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12" name="Image 2" descr="รูปภาพที่ 78 หน้าจัดทำรายงานวินิจฉัยชี้มูล ส่วนที่ 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934" y="3813048"/>
            <a:ext cx="4319509" cy="20665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57200" y="5916168"/>
            <a:ext cx="55229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78 หน้าจัดทำรายงานวินิจฉัยชี้มูล ส่วนที่ 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4.2.2 หน้าจัดทำคำสั่งแต่งตั้งผู้ไต่สวน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4.2.2 | รูปภาพที่ 79–80 (ส่วนที่ 1)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50512"/>
            <a:ext cx="7662672" cy="37513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2.2 หน้าจัดทำคำสั่งแต่งตั้งผู้ไต่สว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87088"/>
            <a:ext cx="7589520" cy="36781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กลุ่มงานกิจการคณะกรรมการ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จัดทำคำสั่งแต่งตั้งผู้ไต่สวนตาม ม.24 (ปปท. ๕-๐๒/๕-๐๔) และร่างคำสั่งอัตโนมัติ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เลือกที่มาสำนวน กำหนดแบบฟอร์มและเลขที่คำสั่ง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กำหนดคณะผู้ไต่สวนและเจ้าของสำนวน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พรีวิวร่างคำสั่ง แล้วส่งออกเพื่อลงนาม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6.3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FR-RES-303 | Page Code RES-20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4.2.2 หน้าจัดทำคำสั่งแต่งตั้งผู้ไต่สวน · ส่วนที่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4.2.2 | รูปภาพที่ 80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359573" y="1069848"/>
            <a:ext cx="9469806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รูปภาพที่ 80 หน้าออกคำสั่งแต่งตั้งผู้ไต่สวน ส่วนที่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005" y="1097280"/>
            <a:ext cx="9414942" cy="45628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696712"/>
            <a:ext cx="11274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รูปภาพที่ 80 หน้าออกคำสั่งแต่งตั้งผู้ไต่สวน ส่วนที่ 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4.3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ระบบค้นหาและกรองข้อมูลคดี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กลุ่มผู้ใช้งานในส่วนนี้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4.3.1 บุคลากรทุกกลุ่มงาน (ตามสิทธิ์) · 1 หน้าจอ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4.3.1 หน้าทะเบียนสำนวน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4.3.1 | รูปภาพที่ 81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74111"/>
            <a:ext cx="7662672" cy="370413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3.1 หน้าทะเบียนสำนว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10687"/>
            <a:ext cx="7589520" cy="36309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บุคลากรทุกกลุ่มงาน (ตามสิทธิ์)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สืบค้นขั้นสูงในทะเบียนสำนวนทั้งหมด ติดตามงานค้าง SLA กรอบเวลา ม.23 และส่งออกรายงาน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ระบุเงื่อนไขค้นหาหรือใช้ Quick Filters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ตรวจสถานะงานค้างและ SLA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ส่งออก Excel/CSV, Word, PDF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8.1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FR-RES-702 | Page Code RES-21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097280"/>
            <a:ext cx="5303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4.4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606040"/>
            <a:ext cx="5394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ระบบการแสดงผลข้อมูล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กลุ่มผู้ใช้งานในส่วนนี้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84848" y="237286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4.4.1 กลุ่มเลขาธิการฯ / ผู้ปฏิบัติงาน · 1 หน้าจอ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84848" y="3241548"/>
            <a:ext cx="146304" cy="146304"/>
          </a:xfrm>
          <a:prstGeom prst="ellipse">
            <a:avLst/>
          </a:prstGeom>
          <a:solidFill>
            <a:srgbClr val="FFC653"/>
          </a:solidFill>
          <a:ln w="12700">
            <a:solidFill>
              <a:srgbClr val="FFC65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4.4.2 ผู้บริหารและคณะกรรมการ ป.ป.ท. · 1 หน้าจอ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4.4.1 หน้า Dashboard สถิติมติคณะกรรมการ ป.ป.ท.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4.4.1 | รูปภาพที่ 82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75066"/>
            <a:ext cx="7662672" cy="37022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4.1 หน้า Dashboard สถิติมติคณะกรรมการ ป.ป.ท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11642"/>
            <a:ext cx="7589520" cy="36290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กลุ่มเลขาธิการฯ / ผู้ปฏิบัติงาน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ติดตามผลการดำเนินการตามมติของหน่วยงานภายนอก (ม.38 ภายใน 60 วัน / ม.44 ภายใน 90 วัน) พร้อมแจ้งเตือน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ตรวจ SLA Alerts ที่เกินหรือใกล้ครบกำหนด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กรองตามหน่วยงานหรือเลขสำนวน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บันทึกผลติดตาม และส่งออกรายงาน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8.2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FR-RES-802 | Page Code RES-22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4.4.2 หน้าแสดงข้อมูลสถิติมติ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4.4.2 | รูปภาพที่ 83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0624" y="1874111"/>
            <a:ext cx="7662672" cy="370413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pic>
        <p:nvPicPr>
          <p:cNvPr id="6" name="Image 0" descr="4.4.2 หน้าแสดงข้อมูลสถิติมต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10687"/>
            <a:ext cx="7589520" cy="36309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75320" y="1097280"/>
            <a:ext cx="3456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75320" y="1097280"/>
            <a:ext cx="3456432" cy="73152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85048" y="1097280"/>
            <a:ext cx="32369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 : ผู้บริหารและคณะกรรมการ ป.ป.ท.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920240"/>
            <a:ext cx="3236976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แดชบอร์ดสถิติมติคณะกรรมการ ป.ป.ท. KPI ตารางแบบรายงาน กบค. และสัดส่วนประเภทมติ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ขั้นตอนหลัก :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เลือกรอบเดือน ปีงบประมาณ หรือคณะอนุกรรมการ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ตรวจ KPI Cards และแผนภูมิ</a:t>
            </a:r>
            <a:endParaRPr lang="en-US" sz="16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ส่งออกตาราง / พิมพ์ PDF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 : 8.2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ความต้องการ : FR-RES-801 | Page Code RES-23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914400"/>
            <a:ext cx="5212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ส่วนที่ 5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371600"/>
            <a:ext cx="52120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</a:t>
            </a:r>
            <a:endParaRPr lang="en-US" sz="10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971800"/>
            <a:ext cx="53949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การออกแบบ Prototype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3749040"/>
            <a:ext cx="53949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และข้อกำหนดระบบ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672084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หัวข้อในส่วนนี้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675120" y="214884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0" y="2148840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 ระบบจัดทำทะเบียนคุมฯ · RES-1–14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75120" y="294436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2944368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 ระบบสนับสนุนการพิจารณาฯ · RES-15–20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75120" y="373989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3739896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5.3 ระบบค้นหาและกรองข้อมูลคดี · RES-21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675120" y="4535424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E2B63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4535424"/>
            <a:ext cx="4663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5.4 ระบบการแสดงผลข้อมูล · RES-22–23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 การออกแบบ Prototype และข้อกำหนดระบบ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บทที่ 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47188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16128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23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9164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332988" y="1143000"/>
            <a:ext cx="2647188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2988" y="116128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14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332988" y="169164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ระบบทะเบียนคุมฯ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08776" y="1143000"/>
            <a:ext cx="2647188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08776" y="116128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208776" y="169164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ระบบสนับสนุนฯ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084564" y="1143000"/>
            <a:ext cx="2647188" cy="960120"/>
          </a:xfrm>
          <a:prstGeom prst="roundRect">
            <a:avLst>
              <a:gd name="adj" fmla="val 7619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84564" y="1161288"/>
            <a:ext cx="26471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9084564" y="1691640"/>
            <a:ext cx="26471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ระบบค้นหา / แสดงผล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2267712"/>
            <a:ext cx="1127455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โครงสร้างข้อกำหนดหน้าจอ (Specification) ทุกหน้าจอ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457200" y="2743200"/>
            <a:ext cx="2642616" cy="1600200"/>
          </a:xfrm>
          <a:prstGeom prst="roundRect">
            <a:avLst>
              <a:gd name="adj" fmla="val 4571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2852928"/>
            <a:ext cx="24597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/ Menu Name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337560"/>
            <a:ext cx="24597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ชื่อฟังก์ชันและตำแหน่งเมนู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300984" y="2743200"/>
            <a:ext cx="2642616" cy="1600200"/>
          </a:xfrm>
          <a:prstGeom prst="roundRect">
            <a:avLst>
              <a:gd name="adj" fmla="val 4571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92424" y="2852928"/>
            <a:ext cx="24597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3392424" y="3337560"/>
            <a:ext cx="24597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เส้นทางหน้าจอ (res/…) และรหัส RES-n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144768" y="2743200"/>
            <a:ext cx="2642616" cy="1600200"/>
          </a:xfrm>
          <a:prstGeom prst="roundRect">
            <a:avLst>
              <a:gd name="adj" fmla="val 4571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36208" y="2852928"/>
            <a:ext cx="24597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 / SDD ID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6236208" y="3337560"/>
            <a:ext cx="24597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อ้างอิงหน้าจอบทที่ 4 และ SDD-A07-RES-n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8988552" y="2743200"/>
            <a:ext cx="2642616" cy="1600200"/>
          </a:xfrm>
          <a:prstGeom prst="roundRect">
            <a:avLst>
              <a:gd name="adj" fmla="val 4571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079992" y="2852928"/>
            <a:ext cx="24597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UI Specification</a:t>
            </a:r>
            <a:endParaRPr lang="en-US" sz="2100" dirty="0"/>
          </a:p>
        </p:txBody>
      </p:sp>
      <p:sp>
        <p:nvSpPr>
          <p:cNvPr id="29" name="Text 26"/>
          <p:cNvSpPr txBox="1"/>
          <p:nvPr/>
        </p:nvSpPr>
        <p:spPr>
          <a:xfrm>
            <a:off x="9079992" y="3337560"/>
            <a:ext cx="24597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ภาพหน้าจอ Prototype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457200" y="4526280"/>
            <a:ext cx="2642616" cy="1600200"/>
          </a:xfrm>
          <a:prstGeom prst="roundRect">
            <a:avLst>
              <a:gd name="adj" fmla="val 4571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4636008"/>
            <a:ext cx="24597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Description</a:t>
            </a:r>
            <a:endParaRPr lang="en-US" sz="21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120640"/>
            <a:ext cx="24597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คำอธิบายวัตถุประสงค์หน้าจอ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3300984" y="4526280"/>
            <a:ext cx="2642616" cy="1600200"/>
          </a:xfrm>
          <a:prstGeom prst="roundRect">
            <a:avLst>
              <a:gd name="adj" fmla="val 4571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392424" y="4636008"/>
            <a:ext cx="24597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Condition</a:t>
            </a:r>
            <a:endParaRPr lang="en-US" sz="2100" dirty="0"/>
          </a:p>
        </p:txBody>
      </p:sp>
      <p:sp>
        <p:nvSpPr>
          <p:cNvPr id="35" name="Text 32"/>
          <p:cNvSpPr txBox="1"/>
          <p:nvPr/>
        </p:nvSpPr>
        <p:spPr>
          <a:xfrm>
            <a:off x="3392424" y="5120640"/>
            <a:ext cx="24597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เงื่อนไขการแสดง Object และการตรวจสอบข้อมูล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6144768" y="4526280"/>
            <a:ext cx="2642616" cy="1600200"/>
          </a:xfrm>
          <a:prstGeom prst="roundRect">
            <a:avLst>
              <a:gd name="adj" fmla="val 4571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236208" y="4636008"/>
            <a:ext cx="24597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Process</a:t>
            </a:r>
            <a:endParaRPr lang="en-US" sz="2100" dirty="0"/>
          </a:p>
        </p:txBody>
      </p:sp>
      <p:sp>
        <p:nvSpPr>
          <p:cNvPr id="38" name="Text 35"/>
          <p:cNvSpPr txBox="1"/>
          <p:nvPr/>
        </p:nvSpPr>
        <p:spPr>
          <a:xfrm>
            <a:off x="6236208" y="5120640"/>
            <a:ext cx="24597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ลำดับการทำงาน เริ่มจากตรวจสอบ Token ทุก Action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8988552" y="4526280"/>
            <a:ext cx="2642616" cy="1600200"/>
          </a:xfrm>
          <a:prstGeom prst="roundRect">
            <a:avLst>
              <a:gd name="adj" fmla="val 4571"/>
            </a:avLst>
          </a:prstGeom>
          <a:solidFill>
            <a:srgbClr val="F1F4FA"/>
          </a:solidFill>
          <a:ln w="12700">
            <a:solidFill>
              <a:srgbClr val="9FB6E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079992" y="4636008"/>
            <a:ext cx="24597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2100" dirty="0"/>
          </a:p>
        </p:txBody>
      </p:sp>
      <p:sp>
        <p:nvSpPr>
          <p:cNvPr id="41" name="Text 38"/>
          <p:cNvSpPr txBox="1"/>
          <p:nvPr/>
        </p:nvSpPr>
        <p:spPr>
          <a:xfrm>
            <a:off x="9079992" y="5120640"/>
            <a:ext cx="24597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12 กลุ่มผู้ใช้งานตามบทบาท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 Prototype · ระบบจัดทำทะเบียนคุมรายงานไต่สวนฯ (1/2)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</a:t>
            </a:r>
            <a:endParaRPr lang="en-US" sz="1500" dirty="0"/>
          </a:p>
        </p:txBody>
      </p:sp>
      <p:graphicFrame>
        <p:nvGraphicFramePr>
          <p:cNvPr id="1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1234440"/>
                <a:gridCol w="25146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หัวข้อ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Page Code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Page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ผู้ใช้งาน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หน้ารายการพิจารณา/ลงนาม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res/sign-list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เลขาธิการคณะกรรมการ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หน้าพิจารณาและลงนามรายงาน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res/sign-detail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เลขาธิการคณะกรรมการ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หน้ารายการสำนวนรอกลั่นกรอง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res/support-sub-inbox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คณะอนุกรรมการสนับสนุนเลขาธิการฯ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หน้ากลั่นกรองสำนวนซับซ้อน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res/support-sub-detail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คณะอนุกรรมการสนับสนุนเลขาธิการฯ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5.1.5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หน้าทะเบียนวาระการประชุม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RES-5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res/agenda-register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5.1.6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หน้ารายละเอียดวาระการประชุม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RES-6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res/agenda-detail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5.1.7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หน้าจัดทำเอกสารการประชุมคณะกรรมการ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RES-7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res/meeting-docs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 Prototype · ระบบจัดทำทะเบียนคุมรายงานไต่สวนฯ (2/2)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</a:t>
            </a:r>
            <a:endParaRPr lang="en-US" sz="1500" dirty="0"/>
          </a:p>
        </p:txBody>
      </p:sp>
      <p:graphicFrame>
        <p:nvGraphicFramePr>
          <p:cNvPr id="1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1234440"/>
                <a:gridCol w="25146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หัวข้อ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Page Code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Page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ผู้ใช้งาน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5.1.8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หน้ารายการพิจารณาสั่งการและบรรจุวาระ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RES-8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res/order-agenda-list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ประธานกรรมการ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5.1.9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หน้าพิจารณาสั่งการบรรจุวาระและออกคำสั่ง ม.24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RES-9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res/order-agenda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ประธานกรรมการ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5.1.10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หน้ารอบการประชุมและอ่านวาระล่วงหน้า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RES-10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res/board-inbox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5.1.11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หน้ารายละเอียดวาระและสำนวนการประชุม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res/board-detail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5.1.12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หน้ารายการสำนวนรอกลั่นกรองของคณะอนุกรรมการกลั่นกรองฯ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res/wait-review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คณะอนุกรรมการกลั่นกรองฯ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5.1.13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หน้าคณะอนุกรรมการกลั่นกรองเรื่องไต่สวนข้อเท็จจริง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res/screen-case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คณะอนุกรรมการกลั่นกรองฯ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5.1.14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หน้ารายการคดี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res/list-case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กลุ่มงานบริหารคดีและบริหารทั่วไป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5.1.1 หน้ารายการพิจารณา/ลงนาม (RES-1)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5.1.1 | รูปภาพที่ 84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84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ดูภาพรวมสำนวนที่เสนอตามลำดับชั้น รอพิจารณาและลงนาม พร้อมติดตาม SLA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รายการพิจารณา/ลงนาม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รายการพิจารณา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res/sign-list  |  RES-1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หน้ารายการพิจารณา/ลงนาม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เลขาธิการคณะกรรมการ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5.1.2 หน้าพิจารณาและลงนามรายงาน (RES-2)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5.1.2 | รูปภาพที่ 85–88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85–88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ตรวจสำนวนและรายงาน ปปท. ๒-๑๓ สั่งการตาม ม.28 คัดกรองความซับซ้อน/ความเร่งด่วน และลงนามดิจิทัล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เลขาธิการฯ พิจารณาและลงนามรายงาน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รายการพิจารณา &gt; พิจารณาและลงนามรายงาน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res/sign-detail  |  RES-2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SDD-A07-RES-2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หน้าพิจารณาและลงนามรายงาน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เลขาธิการคณะกรรมการ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1.2–1.5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5.1.3 หน้ารายการสำนวนรอกลั่นกรอง (RES-3)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5.1.3 | รูปภาพที่ 89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89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ดูรายการสำนวนซับซ้อนที่เลขาธิการฯ ส่งมาให้กลั่นกรอง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รายการสำนวนรอกลั่นกรอง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รายการสำนวนรอกลั่นกรอง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res/support-sub-inbox  |  RES-3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SDD-A07-RES-3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หน้ารายการสำนวนรอกลั่นกรอง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คณะอนุกรรมการสนับสนุนเลขาธิการฯ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5.1.4 หน้ากลั่นกรองสำนวนซับซ้อน (RES-4)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5.1.4 | รูปภาพที่ 90–92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90–92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กลั่นกรองข้อเท็จจริงและข้อกฎหมาย ลงมติ 4 แนวทาง และจัดทำบันทึกความเห็นเสนอเลขาธิการฯ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คณะอนุกรรมการสนับสนุนเลขาธิการฯ กลั่นกรองสำนวนซับซ้อน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รายการสำนวนรอกลั่นกรอง &gt; กลั่นกรองสำนวนซับซ้อน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res/support-sub-detail  |  RES-4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SDD-A07-RES-4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หน้ากลั่นกรองสำนวนซับซ้อน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คณะอนุกรรมการสนับสนุนเลขาธิการฯ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5.1.5 หน้าทะเบียนวาระการประชุม (RES-5)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5.1.5 | รูปภาพที่ 93–94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93–94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บริหารทะเบียนรอบการประชุม เปิดรอบใหม่ และจัดคิวสำนวนรอบรรจุวาระ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ทะเบียนวาระการประชุม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ทะเบียนวาระการประชุม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res/agenda-register  |  RES-5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SDD-A07-RES-5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หน้าทะเบียนวาระการประชุม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กลุ่มงานคำวินิจฉัยและมติคณะกรรมการ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127</a:t>
            </a:fld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5.1.6 หน้ารายละเอียดวาระการประชุม (RES-6)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5.1.6 | รูปภาพที่ 95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95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จัดเรียงระเบียบวาระ เพิ่มสำนวนเข้าวาระ และดูสถิติความเห็นแย้ง/การรวมสำนวน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รายละเอียดวาระการประชุม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ทะเบียนวาระการประชุม &gt; รายละเอียดวาระ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res/agenda-detail  |  RES-6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SDD-A07-RES-6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หน้ารายละเอียดวาระการประชุม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กลุ่มงานคำวินิจฉัยและมติคณะกรรมการ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128</a:t>
            </a:fld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5.1.7 หน้าจัดทำเอกสารการประชุมคณะกรรมการ ป.ป.ท. (RES-7)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5.1.7 | รูปภาพที่ 96–97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96–97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จัดทำหนังสือเชิญประชุม ล็อกรายชื่อกรรมการ จัดการผู้มีส่วนได้เสียรายวาระ และสร้างระเบียบวาระอัตโนมัติ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จัดทำเอกสารการประชุมคณะกรรมการ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ทะเบียนวาระการประชุม &gt; รายละเอียดวาระ &gt; จัดทำเอกสารการประชุม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res/meeting-docs  |  RES-7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SDD-A07-RES-7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หน้าจัดทำเอกสารการประชุมคณะกรรมการ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กลุ่มงานคำวินิจฉัยและมติคณะกรรมการ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129</a:t>
            </a:fld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5.1.8 หน้ารายการพิจารณาสั่งการและบรรจุวาระ (RES-8)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5.1.8 | รูปภาพที่ 98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98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ติดตามคิวสำนวนที่รอสั่งการบรรจุวาระ (วาระด่วน/ปกติ) พร้อม SLA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รายการพิจารณาสั่งการและบรรจุวาระ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รายการพิจารณาสั่งการและบรรจุวาระ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res/order-agenda-list  |  RES-8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SDD-A07-RES-8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หน้ารายการพิจารณาสั่งการและบรรจุวาระ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ประธานกรรมการ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3.1, 3.2, 4.1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130</a:t>
            </a:fld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5.1.9 หน้าพิจารณาสั่งการบรรจุวาระและออกคำสั่ง ม.24 (RES-9)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5.1.9 | รูปภาพที่ 99–101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99–101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สั่งการบรรจุวาระ (ปกติ/ด่วน เลือกรอบประชุม) และออกคำสั่งแต่งตั้งผู้ไต่สวนตาม ม.24 พร้อมลงนาม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พิจารณาสั่งการบรรจุวาระและออกคำสั่ง ม.24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สั่งการบรรจุวาระและออกคำสั่ง ม.24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res/order-agenda  |  RES-9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SDD-A07-RES-9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หน้าพิจารณาสั่งการบรรจุวาระและออกคำสั่ง ม.24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ประธานกรรมการ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3.2, 3.5, 4.1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131</a:t>
            </a:fld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5.1.10 หน้ารอบการประชุมและอ่านวาระล่วงหน้า (RES-10)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5.1.10 | รูปภาพที่ 102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102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ดูรอบการประชุมและอ่านระเบียบวาระล่วงหน้าก่อนประชุมอย่างน้อย 3 วัน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รอบการประชุมและอ่านวาระล่วงหน้า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รอบการประชุมและอ่านวาระล่วงหน้า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res/board-inbox  |  RES-10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SDD-A07-RES-10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หน้ารอบการประชุมและอ่านวาระล่วงหน้า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132</a:t>
            </a:fld>
            <a:endParaRPr lang="en-US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5.1.11 หน้ารายละเอียดวาระและสำนวนการประชุม (RES-11)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5.1.11 | รูปภาพที่ 103–104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103–104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อ่านรายละเอียดวาระรายสำนวน พรีวิวเอกสาร และบันทึกความเห็นส่วนตัวก่อนประชุม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รายละเอียดวาระและสำนวนการประชุม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รายละเอียดวาระและสำนวนการประชุม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res/board-detail  |  RES-11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SDD-A07-RES-11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หน้ารายละเอียดวาระและสำนวนการประชุม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133</a:t>
            </a:fld>
            <a:endParaRPr 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5.1.12 หน้ารายการสำนวนรอกลั่นกรองของคณะอนุกรรมการกลั่นกรองฯ (RES-12)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5.1.12 | รูปภาพที่ 105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105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ติดตามและตรวจรายการสำนวนที่ได้รับมอบหมายให้กลั่นกรอง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รายการสำนวนรอกลั่นกรองของคณะอนุกรรมการกลั่นกรองฯ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รายการสำนวนรอกลั่นกรองของคณะอนุกรรมการกลั่นกรองฯ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res/wait-review  |  RES-12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SDD-A07-RES-12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หน้ารายการสำนวนรอกลั่นกรองของคณะอนุกรรมการกลั่นกรองฯ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คณะอนุกรรมการกลั่นกรองฯ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134</a:t>
            </a:fld>
            <a:endParaRPr 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5.1.13 หน้าคณะอนุกรรมการกลั่นกรองเรื่องไต่สวนข้อเท็จจริง (RES-13)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5.1.13 | รูปภาพที่ 106–107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106–107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บันทึกผลประชุมกลั่นกรอง ตรวจองค์ประชุมอัตโนมัติ เลือกมติ และลงนามดิจิทัลรับรองมติ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คณะอนุกรรมการกลั่นกรองเรื่องไต่สวนข้อเท็จจริง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คณะอนุกรรมการกลั่นกรองเรื่องไต่สวนข้อเท็จจริง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res/screen-case  |  RES-13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SDD-A07-RES-13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หน้าคณะอนุกรรมการกลั่นกรองเรื่องไต่สวนข้อเท็จจริง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คณะอนุกรรมการกลั่นกรองฯ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135</a:t>
            </a:fld>
            <a:endParaRPr 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5.1.14 หน้ารายการคดี (RES-14)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5.1.14 | รูปภาพที่ 108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108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บริหารคิวสำนวนที่รอส่งเข้าคณะอนุกรรมการกลั่นกรองฯ พร้อมติดตาม SLA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รายการคดี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รายการคดี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res/list-case  |  RES-14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SDD-A07-RES-14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หน้ารายการคดี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กลุ่มงานบริหารคดีและบริหารทั่วไป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3.4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136</a:t>
            </a:fld>
            <a:endParaRPr 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 Prototype · ระบบสนับสนุนการพิจารณาของคณะกรรมการฯ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5.2</a:t>
            </a:r>
            <a:endParaRPr lang="en-US" sz="1500" dirty="0"/>
          </a:p>
        </p:txBody>
      </p:sp>
      <p:graphicFrame>
        <p:nvGraphicFramePr>
          <p:cNvPr id="1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1234440"/>
                <a:gridCol w="25146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หัวข้อ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Page Code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Page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ผู้ใช้งาน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5.2.1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หน้ารายการรอจัดทำมติ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RES-15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res/pending-resolution-list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5.2.2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หน้าบันทึกมติที่ประชุมคณะกรรมการ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RES-16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res/record-resolution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5.2.3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หน้าจัดทำรายงานมติการประชุมคณะกรรมการ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RES-17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res/meeting-minutes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กลุ่มงานคำวินิจฉัยและมติคณะกรรมการ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5.2.4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หน้ารายการเรื่องที่ต้องจัดทำ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RES-18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res/tasks-to-do-list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5.2.5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หน้าจัดทำรายงานวินิจฉัยชี้มูล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RES-19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res/ruling-report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5.2.6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หน้าจัดทำคำสั่งแต่งตั้งผู้ไต่สวน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RES-20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res/order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กลุ่มงานกิจการคณะกรรมการ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137</a:t>
            </a:fld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5.2.1 หน้ารายการรอจัดทำมติ (RES-15)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5.2.1 | รูปภาพที่ 109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109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ดูรายการสำนวนที่ประชุมแล้วรอบันทึกมติ และติดตามการส่งต่อมติ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รายการรอจัดทำมติ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การประชุมคณะกรรมการ ป.ป.ท. &gt; รายการรอจัดทำมติ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res/pending-resolution-list  |  RES-15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SDD-A07-RES-15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หน้ารายการรอจัดทำมติ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กลุ่มงานคำวินิจฉัยและมติคณะกรรมการ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138</a:t>
            </a:fld>
            <a:endParaRPr 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5.2.2 หน้าบันทึกมติที่ประชุมคณะกรรมการ ป.ป.ท. (RES-16)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5.2.2 | รูปภาพที่ 110–113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110–113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บันทึกองค์ประชุม การลงคะแนนรายบุคคล และผลมติ 8 ประเภทตามฐานอำนาจกฎหมาย พร้อมเอกสารมติอัตโนมัติ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บันทึกมติที่ประชุมคณะกรรมการ ป.ป.ท. (วินิจฉัยชี้มูล)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การประชุมคณะกรรมการ ป.ป.ท. &gt; รายการรอจัดทำมติ &gt; บันทึกมติที่ประชุม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res/record-resolution  |  RES-16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SDD-A07-RES-16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หน้าบันทึกมติที่ประชุม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กลุ่มงานคำวินิจฉัยและมติคณะกรรมการ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5.3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139</a:t>
            </a:fld>
            <a:endParaRPr 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5.2.3 หน้าจัดทำรายงานมติการประชุมคณะกรรมการ ป.ป.ท. (RES-17)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5.2.3 | รูปภาพที่ 114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114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รวบรวมมติทุกวาระในรอบประชุมเป็นรายงานการประชุมฉบับสมบูรณ์ และส่งออกเอกสาร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จัดทำรายงานมติการประชุมคณะกรรมการ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การประชุมคณะกรรมการ ป.ป.ท. &gt; จัดทำรายงานมติการประชุม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res/meeting-minutes  |  RES-17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SDD-A07-RES-17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หน้าจัดทำรายงานมติการประชุมคณะกรรมการ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กลุ่มงานคำวินิจฉัยและมติคณะกรรมการ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5.3, 6.2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140</a:t>
            </a:fld>
            <a:endParaRPr 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5.2.4 หน้ารายการเรื่องที่ต้องจัดทำ (RES-18)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5.2.4 | รูปภาพที่ 115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115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บริหารคิวงานหลังมติ: คำสั่งแต่งตั้ง ม.24 รายงานวินิจฉัยชี้มูล หนังสือลงโทษ และส่งเรื่องดำเนินคดี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รายการเรื่องที่ต้องจัดทำ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รายการเรื่องที่ต้องจัดทำ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res/tasks-to-do-list  |  RES-18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SDD-A07-RES-18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หน้ารายการเรื่องที่ต้องจัดทำ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กลุ่มงานกิจการคณะกรรมการ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3.3, 6.3, 7.1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141</a:t>
            </a:fld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5.2.5 หน้าจัดทำรายงานวินิจฉัยชี้มูล (RES-19)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5.2.5 | รูปภาพที่ 116–119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116–119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จัดทำรายงานวินิจฉัยชี้มูล (ปปท. ๗-๐๒) ฐานความผิดรายบุคคล คำนวณอายุความ และร่างหนังสือลงโทษ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จัดทำรายงานวินิจฉัยชี้มูล (แบบ ปปท. ๗-๐๒)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รายการเรื่องที่ต้องจัดทำ &gt; รายงานวินิจฉัยชี้มูล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res/ruling-report  |  RES-19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SDD-A07-RES-19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หน้าจัดทำรายงานวินิจฉัยชี้มูล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กลุ่มงานกิจการคณะกรรมการ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7.1–7.3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142</a:t>
            </a:fld>
            <a:endParaRPr lang="en-US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5.2.6 หน้าจัดทำคำสั่งแต่งตั้งผู้ไต่สวน (RES-20)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5.2.6 | รูปภาพที่ 120–121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120–121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จัดทำคำสั่งแต่งตั้งผู้ไต่สวนตาม ม.24 (ปปท. ๕-๐๒/๕-๐๔) และร่างคำสั่งอัตโนมัติ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จัดทำคำสั่งแต่งตั้งผู้ไต่สวน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รายการเรื่องที่ต้องจัดทำ &gt; จัดทำคำสั่งแต่งตั้งผู้ไต่สวน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res/order  |  RES-20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SDD-A07-RES-20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หน้าจัดทำคำสั่งแต่งตั้งผู้ไต่สวน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กลุ่มงานกิจการคณะกรรมการ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6.3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143</a:t>
            </a:fld>
            <a:endParaRPr 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5.3–5.4 Prototype · ระบบค้นหาฯ / ระบบแสดงผลข้อมูล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5.3–5.4</a:t>
            </a:r>
            <a:endParaRPr lang="en-US" sz="1500" dirty="0"/>
          </a:p>
        </p:txBody>
      </p:sp>
      <p:graphicFrame>
        <p:nvGraphicFramePr>
          <p:cNvPr id="1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1234440"/>
                <a:gridCol w="25146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หัวข้อ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หน้าจอ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Page Code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Page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ผู้ใช้งาน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5.3.1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หน้าทะเบียนสำนวน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RES-21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res/case-registry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บุคลากรทุกกลุ่มงาน (ตามสิทธิ์)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5.4.1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 Dashboard สถิติมติคณะกรรมการ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RES-22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res/dashboard-statistics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กลุ่มเลขาธิการฯ / ผู้ปฏิบัติงาน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5.4.2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หน้าแสดงข้อมูลสถิติมติ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RES-23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4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res/display-statistics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ผู้บริหารและคณะกรรมการ ป.ป.ท.</a:t>
                      </a:r>
                      <a:endParaRPr lang="en-US" sz="17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144</a:t>
            </a:fld>
            <a:endParaRPr 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5.3.1 หน้าทะเบียนสำนวน (RES-21)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5.3.1 | รูปภาพที่ 122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122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สืบค้นขั้นสูงในทะเบียนสำนวนทั้งหมด ติดตามงานค้าง SLA กรอบเวลา ม.23 และส่งออกรายงาน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ทะเบียนสำนวน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ทะเบียนสำนวน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res/case-registry  |  RES-21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SDD-A07-RES-21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หน้าทะเบียนสำนวน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บุคลากรทุกกลุ่มงาน (ตามสิทธิ์)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8.1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145</a:t>
            </a:fld>
            <a:endParaRPr lang="en-US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5.4.1 หน้า Dashboard สถิติมติคณะกรรมการ ป.ป.ท. (RES-22)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5.4.1 | รูปภาพที่ 123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123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ติดตามผลการดำเนินการตามมติของหน่วยงานภายนอก (ม.38 ภายใน 60 วัน / ม.44 ภายใน 90 วัน) พร้อมแจ้งเตือน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Dashboard สถิติมติคณะกรรมการ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Dashboard สถิติมติ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res/dashboard-statistics  |  RES-22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SDD-A07-RES-22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หน้าสถิติมติคณะกรรมการ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กลุ่มเลขาธิการฯ / ผู้ปฏิบัติงาน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8.2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146</a:t>
            </a:fld>
            <a:endParaRPr lang="en-US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5.4.2 หน้าแสดงข้อมูลสถิติมติ (RES-23)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เล่มที่ 4 กิจกรรมที่ 7 หัวข้อ 5.4.2 | รูปภาพที่ 124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589520" cy="4160520"/>
          </a:xfrm>
          <a:prstGeom prst="rect">
            <a:avLst/>
          </a:prstGeom>
          <a:solidFill>
            <a:srgbClr val="F7F9FD"/>
          </a:solidFill>
          <a:ln w="19050">
            <a:solidFill>
              <a:srgbClr val="9FB6E8"/>
            </a:solidFill>
            <a:prstDash val="dash"/>
          </a:ln>
        </p:spPr>
      </p:sp>
      <p:sp>
        <p:nvSpPr>
          <p:cNvPr id="6" name="PrototypeImagePlaceholder"/>
          <p:cNvSpPr txBox="1"/>
          <p:nvPr/>
        </p:nvSpPr>
        <p:spPr>
          <a:xfrm>
            <a:off x="45720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8DB5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วางภาพ Prototype ที่นี่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อยู่ระหว่างปรับแก้ — เว้นพื้นที่ไว้ก่อน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7589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พื้นที่ภาพ Prototype · รูปภาพที่ 124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413248"/>
            <a:ext cx="7589520" cy="914400"/>
          </a:xfrm>
          <a:prstGeom prst="rect">
            <a:avLst/>
          </a:prstGeom>
          <a:solidFill>
            <a:srgbClr val="F1F4FA"/>
          </a:solidFill>
          <a:ln/>
        </p:spPr>
        <p:txBody>
          <a:bodyPr wrap="square" lIns="63500" tIns="127000" rIns="127000" bIns="6350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คำอธิบาย : </a:t>
            </a:r>
            <a:pPr indent="0" marL="0">
              <a:buNone/>
            </a:pPr>
            <a:r>
              <a:rPr lang="en-US" sz="18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แดชบอร์ดสถิติมติคณะกรรมการ ป.ป.ท. KPI ตารางแบบรายงาน กบค. และสัดส่วนประเภทมติ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75320" y="1097280"/>
            <a:ext cx="3456432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75320" y="1097280"/>
            <a:ext cx="3456432" cy="457200"/>
          </a:xfrm>
          <a:prstGeom prst="rect">
            <a:avLst/>
          </a:prstGeom>
          <a:solidFill>
            <a:srgbClr val="1E2B63"/>
          </a:solidFill>
          <a:ln w="12700">
            <a:solidFill>
              <a:srgbClr val="1E2B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1097280"/>
            <a:ext cx="32369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ข้อกำหนดหน้าจอ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1645920"/>
            <a:ext cx="3236976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Function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แสดงผลข้อมูลสถิติมติ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Menu Name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ภาพรวม &gt; แสดงผลข้อมูลสถิติมติ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Page / Page Code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res/display-statistics  |  RES-23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 ID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SDD-A07-RES-23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Ref.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บทที่ 4 หน้าแสดงผลข้อมูลสถิติมติ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ผู้ใช้งาน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ผู้บริหารและคณะกรรมการ ป.ป.ท.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B6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User Flow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7243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8.2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147</a:t>
            </a:fld>
            <a:endParaRPr lang="en-US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73152"/>
            <a:ext cx="11274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ประเด็นที่ขอยืนยันร่วมกัน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473952"/>
            <a:ext cx="107899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อ้างอิง : โครงหัวข้อ Process บทที่ 2 ชีต B (คอลัมน์ประเด็นที่ต้องตรวจสอบ) และชีต F | README อัปเดต V1.4</a:t>
            </a:r>
            <a:endParaRPr lang="en-US" sz="1500" dirty="0"/>
          </a:p>
        </p:txBody>
      </p:sp>
      <p:graphicFrame>
        <p:nvGraphicFramePr>
          <p:cNvPr id="1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6153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ประเด็น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ผลกระทบหากยืนยัน / เปลี่ยนแปลง</a:t>
                      </a:r>
                      <a:endParaRPr lang="en-US" sz="19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1. ชื่อบทบาทผู้ใช้งานมาตรฐาน (คอมเมนต์ข้อ 1 รอสรุปจากทีม)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ปรับ Lane ใน User Flow, External Entity ใน DFD และคำอธิบายในเล่ม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2. ใช้โครงหัวข้อบทที่ 2 ตาม Process 1–8 แทนการแบ่งตามระบบงาน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บทที่ 4–5 ยังจัดตามระบบงาน 4 ระบบ — อ้างโยงผ่านคำอธิบาย Flow ภาพรวม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3. หนังสือส่งสำนักงาน ป.ป.ช. จัดทำนอกระบบ (ผู้รับผิดชอบทำต่อ)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หากต้องออกหนังสือในระบบ ต้องเพิ่มขั้นตอนขอเลขจากระบบสารบรรณและหน้าจอ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4. ลำดับการขอเลขคำสั่ง/เลขหนังสือจากระบบสารบรรณ (RES033, RES135–137, RES219)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ยืนยันกับ สลธ. และเพิ่มช่องเลขหนังสือในหน้าจอ RES-19 / RES-20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5. ประเภท "มติอื่นๆ" (DEC-006 / DEC-203)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ระบุประเภทมติให้ครบเพื่อใช้เป็นเงื่อนไขใน Flow และหน้าจอบันทึกมติ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B63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6. หน้าจอที่ยังไม่พบ : 1.2 ผอ.กบค. ลงความเห็นใบด่วน, 6.4 รายงานการไต่สวนเพิ่มเติม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434"/>
                          </a:solidFill>
                          <a:latin typeface="TH SarabunPSK" pitchFamily="34" charset="0"/>
                          <a:ea typeface="TH SarabunPSK" pitchFamily="34" charset="-122"/>
                          <a:cs typeface="TH SarabunPSK" pitchFamily="34" charset="-120"/>
                        </a:rPr>
                        <a:t>เพิ่มหน้าจอ หรือระบุหน้าจอที่ใช้ร่วม (สรุป Mapping : ตรง 14 / บางส่วน 10 / ไม่พบ 2)</a:t>
                      </a:r>
                      <a:endParaRPr lang="en-US" sz="1800" dirty="0">
                        <a:latin typeface="TH SarabunPSK" charset="0"/>
                        <a:ea typeface="TH SarabunPSK" charset="0"/>
                        <a:cs typeface="TH SarabunPSK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64748B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148</a:t>
            </a:fld>
            <a:endParaRPr 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2011680"/>
            <a:ext cx="100584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C653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ขอบคุณ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337560"/>
            <a:ext cx="100584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ถาม – ตอบ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B6E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กิจกรรมที่ 7 · ระบบบริหารจัดการกระบวนงานพิจารณาและดำเนินการตามมติคณะกรรมการ ป.ป.ท.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51052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9FB6E8"/>
                </a:solidFill>
                <a:latin typeface="TH SarabunPSK"/>
                <a:ea typeface="TH SarabunPSK"/>
                <a:cs typeface="TH SarabunPSK"/>
              </a:defRPr>
            </a:lvl1pPr>
          </a:lstStyle>
          <a:p>
            <a:pPr algn="l"/>
            <a:fld id="{F7021451-1387-4CA6-816F-3879F97B5CBC}" type="slidenum">
              <a:rPr b="0" lang="en-US"/>
              <a:t>149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-CMIS Navy">
  <a:themeElements>
    <a:clrScheme name="E-CMIS Navy">
      <a:dk1>
        <a:srgbClr val="172434"/>
      </a:dk1>
      <a:lt1>
        <a:srgbClr val="FFFFFF"/>
      </a:lt1>
      <a:dk2>
        <a:srgbClr val="1E2B63"/>
      </a:dk2>
      <a:lt2>
        <a:srgbClr val="F1F4FA"/>
      </a:lt2>
      <a:accent1>
        <a:srgbClr val="1E2B63"/>
      </a:accent1>
      <a:accent2>
        <a:srgbClr val="FFC653"/>
      </a:accent2>
      <a:accent3>
        <a:srgbClr val="9FB6E8"/>
      </a:accent3>
      <a:accent4>
        <a:srgbClr val="64748B"/>
      </a:accent4>
      <a:accent5>
        <a:srgbClr val="141F4E"/>
      </a:accent5>
      <a:accent6>
        <a:srgbClr val="2F6FB3"/>
      </a:accent6>
      <a:hlink>
        <a:srgbClr val="2F6FB3"/>
      </a:hlink>
      <a:folHlink>
        <a:srgbClr val="6D28D9"/>
      </a:folHlink>
    </a:clrScheme>
    <a:fontScheme name="E-CMIS Navy">
      <a:majorFont>
        <a:latin typeface="TH SarabunP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H SarabunP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149</Slides>
  <Notes>149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149</vt:i4>
      </vt:variant>
    </vt:vector>
  </HeadingPairs>
  <TitlesOfParts>
    <vt:vector size="1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กิจกรรมที่ 7 สรุปการออกแบบระบบ งวดที่ 2</dc:title>
  <dc:subject>PptxGenJS Presentation</dc:subject>
  <dc:creator>SS CONSORTIUM</dc:creator>
  <cp:lastModifiedBy>SS CONSORTIUM</cp:lastModifiedBy>
  <cp:revision>1</cp:revision>
  <dcterms:created xsi:type="dcterms:W3CDTF">2026-10-27T11:25:03Z</dcterms:created>
  <dcterms:modified xsi:type="dcterms:W3CDTF">2026-10-27T11:25:03Z</dcterms:modified>
</cp:coreProperties>
</file>
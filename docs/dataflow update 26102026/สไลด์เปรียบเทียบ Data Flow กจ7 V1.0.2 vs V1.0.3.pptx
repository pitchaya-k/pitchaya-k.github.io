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ภาพรวม" id="{3ae16843-b684-0a2b-0c39-1c002054deb9}">
          <p14:sldIdLst>
            <p14:sldId id="257"/>
            <p14:sldId id="258"/>
          </p14:sldIdLst>
        </p14:section>
        <p14:section name="Level 0" id="{5b065693-f6fe-8d22-5544-cca5156e1a7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Level 1" id="{4b7d4d10-c914-829a-275c-4ae06d979541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Level 2" id="{e9a78a0c-d5c7-d311-36b2-366c36950285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</p14:sldIdLst>
        </p14:section>
        <p14:section name="ผลตรวจและประเด็นค้าง" id="{7002453b-22bd-ed25-361a-11a3fb36ab93}">
          <p14:sldIdLst>
            <p14:sldId id="328"/>
            <p14:sldId id="329"/>
            <p14:sldId id="330"/>
            <p14:sldId id="331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V1.0.2 - 01.png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V1.0.2 - 01.png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V1.0.2 - 02.png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V1.0.2 - 02.png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V1.0.3 - 00 ภาพรวม.png
ชื่อหน้าในผัง: Data Flow Diagram Level 0 (Context Diagram) : Process 0 E-CMIS กิจกรรมที่ 7 ระบบบริหารจัดการกระบวนงานพิจารณาและดำเนินการตามมติคณะกรรมการ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V1.0.3 - 00 ภาพรวม.png
ชื่อหน้าในผัง: Data Flow Diagram Level 0 (Context Diagram) : Process 0 E-CMIS กิจกรรมที่ 7 ระบบบริหารจัดการกระบวนงานพิจารณาและดำเนินการตามมติคณะกรรมการ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V1.0.3 - 01 หน้า 1-6 (E1–E2).png
ชื่อหน้าในผัง: Data Flow Diagram Level 0 (Context Diagram) : Process 0 E-CMIS กิจกรรมที่ 7 (หน้า 1/6 : E1–E2)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V1.0.3 - 02 หน้า 2-6 (E3).png
ชื่อหน้าในผัง: Data Flow Diagram Level 0 (Context Diagram) : Process 0 E-CMIS กิจกรรมที่ 7 (หน้า 2/6 : E3)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V1.0.3 - 03 หน้า 3-6 (E4–E5).png
ชื่อหน้าในผัง: Data Flow Diagram Level 0 (Context Diagram) : Process 0 E-CMIS กิจกรรมที่ 7 (หน้า 3/6 : E4–E5)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V1.0.3 - 04 หน้า 4-6 (E6).png
ชื่อหน้าในผัง: Data Flow Diagram Level 0 (Context Diagram) : Process 0 E-CMIS กิจกรรมที่ 7 (หน้า 4/6 : E6)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V1.0.3 - 05 หน้า 5-6 (E7–E8).png
ชื่อหน้าในผัง: Data Flow Diagram Level 0 (Context Diagram) : Process 0 E-CMIS กิจกรรมที่ 7 (หน้า 5/6 : E7–E8)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Context Diagram (Level 0) V1.0.3 - 06 หน้า 6-6 (E9–E10).png
ชื่อหน้าในผัง: Data Flow Diagram Level 0 (Context Diagram) : Process 0 E-CMIS กิจกรรมที่ 7 (หน้า 6/6 : E9–E10)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V1.0.2 - 01.png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V1.0.2 - 02.png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V1.0.2 - 03.png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V1.0.2 - 04.png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V1.0.2 - 05.png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V1.0.2 - 06.png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V1.0.3 - 00 ภาพรวม.png
ชื่อหน้าในผัง: Data Flow Diagram Level 1 : Process 0 E-CMIS กิจกรรมที่ 7 ระบบบริหารจัดการกระบวนงานพิจารณาและดำเนินการตามมติคณะกรรมการ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V1.0.3 - 00 ภาพรวม.png
ชื่อหน้าในผัง: Data Flow Diagram Level 1 : Process 0 E-CMIS กิจกรรมที่ 7 ระบบบริหารจัดการกระบวนงานพิจารณาและดำเนินการตามมติคณะกรรมการ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V1.0.3 - 00 ภาพรวม.png
ชื่อหน้าในผัง: Data Flow Diagram Level 1 : Process 0 E-CMIS กิจกรรมที่ 7 ระบบบริหารจัดการกระบวนงานพิจารณาและดำเนินการตามมติคณะกรรมการ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V1.0.3 - 00 ภาพรวม.png
ชื่อหน้าในผัง: Data Flow Diagram Level 1 : Process 0 E-CMIS กิจกรรมที่ 7 ระบบบริหารจัดการกระบวนงานพิจารณาและดำเนินการตามมติคณะกรรมการ ป.ป.ท.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V1.0.3 - 01 หน้า 1-10 (E1 กับ 1.0).png
ชื่อหน้าในผัง: Data Flow Diagram Level 1 : Process 0 E-CMIS กิจกรรมที่ 7 (หน้า 1/10 : E1 กับ Process 1.0)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V1.0.3 - 02 หน้า 2-10 (E2 กับ 1.0).png
ชื่อหน้าในผัง: Data Flow Diagram Level 1 : Process 0 E-CMIS กิจกรรมที่ 7 (หน้า 2/10 : E2 กับ Process 1.0)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V1.0.3 - 03 หน้า 3-10 (E3 กับ 2.0, 3.0, 4.0).png
ชื่อหน้าในผัง: Data Flow Diagram Level 1 : Process 0 E-CMIS กิจกรรมที่ 7 (หน้า 3/10 : E3 กับ Process 2.0, 3.0, 4.0)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V1.0.3 - 04 หน้า 4-10 (E4 กับ 4.0).png
ชื่อหน้าในผัง: Data Flow Diagram Level 1 : Process 0 E-CMIS กิจกรรมที่ 7 (หน้า 4/10 : E4 กับ Process 4.0)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V1.0.3 - 05 หน้า 5-10 (E5 กับ 4.0, 5.0, 6.0).png
ชื่อหน้าในผัง: Data Flow Diagram Level 1 : Process 0 E-CMIS กิจกรรมที่ 7 (หน้า 5/10 : E5 กับ Process 4.0, 5.0, 6.0)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V1.0.3 - 06 หน้า 6-10 (E6 กับ 2.0, 3.0, 5.0, 6.0).png
ชื่อหน้าในผัง: Data Flow Diagram Level 1 : Process 0 E-CMIS กิจกรรมที่ 7 (หน้า 6/10 : E6 กับ Process 2.0, 3.0, 5.0, 6.0)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V1.0.3 - 07 หน้า 7-10 (E7 กับ 1.0).png
ชื่อหน้าในผัง: Data Flow Diagram Level 1 : Process 0 E-CMIS กิจกรรมที่ 7 (หน้า 7/10 : E7 กับ Process 1.0)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V1.0.3 - 08 หน้า 8-10 (E8 กับ 1.0, 2.0, 4.0, 5.0, 6.0).png
ชื่อหน้าในผัง: Data Flow Diagram Level 1 : Process 0 E-CMIS กิจกรรมที่ 7 (หน้า 8/10 : E8 กับ Process 1.0, 2.0, 4.0, 5.0, 6.0)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V1.0.3 - 08 หน้า 8-10 (E8 กับ 1.0, 2.0, 4.0, 5.0, 6.0).png
ชื่อหน้าในผัง: Data Flow Diagram Level 1 : Process 0 E-CMIS กิจกรรมที่ 7 (หน้า 8/10 : E8 กับ Process 1.0, 2.0, 4.0, 5.0, 6.0)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V1.0.3 - 09 หน้า 9-10 (E9 กับ 2.0, 3.0).png
ชื่อหน้าในผัง: Data Flow Diagram Level 1 : Process 0 E-CMIS กิจกรรมที่ 7 (หน้า 9/10 : E9 กับ Process 2.0, 3.0)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1) V1.0.3 - 10 หน้า 10-10 (E10 กับ 3.0).png
ชื่อหน้าในผัง: Data Flow Diagram Level 1 : Process 0 E-CMIS กิจกรรมที่ 7 (หน้า 10/10 : E10 กับ Process 3.0)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V1.0.2 - 02.png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V1.0.2 - 04.png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V1.0.2 - 04.png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V1.0.2 - 05.png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V1.0.2 - 06.png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P1.0 ภาพรวม.png
ชื่อหน้าในผัง: Data Flow Diagram Level 2 : Process 1.0 ฟังก์ชันสนับสนุนการจัดทำสารบบคดี และจัดเก็บไฟล์อิเล็กทรอนิกส์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P1.0 ภาพรวม.png
ชื่อหน้าในผัง: Data Flow Diagram Level 2 : Process 1.0 ฟังก์ชันสนับสนุนการจัดทำสารบบคดี และจัดเก็บไฟล์อิเล็กทรอนิกส์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P1.0 ภาพรวม.png
ชื่อหน้าในผัง: Data Flow Diagram Level 2 : Process 1.0 ฟังก์ชันสนับสนุนการจัดทำสารบบคดี และจัดเก็บไฟล์อิเล็กทรอนิกส์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P1.0 หน้า 1-3 (1.1–1.2).png
ชื่อหน้าในผัง: Data Flow Diagram Level 2 : Process 1.0 ฟังก์ชันสนับสนุนการจัดทำสารบบคดี และจัดเก็บไฟล์อิเล็กทรอนิกส์ (หน้า 1/3 : Process 1.1–1.2)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P1.0 หน้า 1-3 (1.1–1.2).png
ชื่อหน้าในผัง: Data Flow Diagram Level 2 : Process 1.0 ฟังก์ชันสนับสนุนการจัดทำสารบบคดี และจัดเก็บไฟล์อิเล็กทรอนิกส์ (หน้า 1/3 : Process 1.1–1.2)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P1.0 หน้า 2-3 (1.3–1.4).png
ชื่อหน้าในผัง: Data Flow Diagram Level 2 : Process 1.0 ฟังก์ชันสนับสนุนการจัดทำสารบบคดี และจัดเก็บไฟล์อิเล็กทรอนิกส์ (หน้า 2/3 : Process 1.3–1.4)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P1.0 หน้า 3-3 (1.5).png
ชื่อหน้าในผัง: Data Flow Diagram Level 2 : Process 1.0 ฟังก์ชันสนับสนุนการจัดทำสารบบคดี และจัดเก็บไฟล์อิเล็กทรอนิกส์ (หน้า 3/3 : Process 1.5)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P2.0 หน้า 1-1 (2.1).png
ชื่อหน้าในผัง: Data Flow Diagram Level 2 : Process 2.0 ฟังก์ชันสนับสนุนการคัดแยกรายงานไต่สวนเบื้องต้น/รายการไต่สวนเพื่อวินิจฉัยชี้มูล ภายหลังเลขาธิการคณะกรรมการ ป.ป.ท. ลงนาม (ภาพรวมและหน้าแยก หน้า 1/1 : Process 2.1)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P3.0 หน้า 1-1 (3.1).png
ชื่อหน้าในผัง: Data Flow Diagram Level 2 : Process 3.0 ฟังก์ชันสนับสนุนการมอบสำเนารายงานไต่สวนเบื้องต้น/รายการไต่สวนเพื่อวินิจฉัยชี้มูล ให้ผู้รับผิดชอบ (ภาพรวมและหน้าแยก หน้า 1/1 : Process 3.1)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P4.0 หน้า 1-1 (4.1–4.2).png
ชื่อหน้าในผัง: Data Flow Diagram Level 2 : Process 4.0 ฟังก์ชันรองรับการจัดทำมติคณะกรรมการ ป.ป.ท. (ภาพรวมและหน้าแยก หน้า 1/1 : Process 4.1–4.2)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P4.0 หน้า 1-1 (4.1–4.2).png
ชื่อหน้าในผัง: Data Flow Diagram Level 2 : Process 4.0 ฟังก์ชันรองรับการจัดทำมติคณะกรรมการ ป.ป.ท. (ภาพรวมและหน้าแยก หน้า 1/1 : Process 4.1–4.2)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P5.0 หน้า 1-1 (5.1).png
ชื่อหน้าในผัง: Data Flow Diagram Level 2 : Process 5.0 ฟังก์ชันรองรับการจัดทำคำสั่งคณะกรรมการ ป.ป.ท./คำสั่งสำนักงาน ป.ป.ท. (ภาพรวมและหน้าแยก หน้า 1/1 : Process 5.1)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ไฟล์: กิจกรรมที่ 7 Data Flow Diagram (Level 2) V1.0.3 - P6.0 หน้า 1-1 (6.1–6.2).png
ชื่อหน้าในผัง: Data Flow Diagram Level 2 : Process 6.0 ฟังก์ชันรองรับการจัดทำรายงานการไต่สวนวินิจฉัยชี้มูล และหนังสือลงโทษทางวินัยของคณะกรรมการ ป.ป.ท. (ภาพรวมและหน้าแยก หน้า 1/1 : Process 6.1–6.2)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Data Flow Diagram กิจกรรมที่ 7 | V1.0.2 → V1.0.3 | 26 ต.ค. 2569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สรุปการปรับ Data Flow Diagram กิจกรรมที่ 7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เปรียบเทียบฉบับเดิม V1.0.2 กับฉบับปรับปรุง V1.0.3 แยกตาม Level 0, Level 1, Level 2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</a:rPr>
              <a:t>ตามกติกา DFD (Level 0–2) | โครงการ E-CMIS | กิจการค้าร่วม SS CONSORTIUM | 26 ต.ค. 2569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ปรับทั้ง 3 ระดับให้ตรงกติกาและสมดุลกันทุกรายการข้อมูล</a:t>
            </a:r>
            <a:endParaRPr lang="en-US" sz="2200" dirty="0"/>
          </a:p>
        </p:txBody>
      </p:sp>
      <p:sp>
        <p:nvSpPr>
          <p:cNvPr id="3" name="stat-bg-0"/>
          <p:cNvSpPr/>
          <p:nvPr/>
        </p:nvSpPr>
        <p:spPr>
          <a:xfrm>
            <a:off x="457200" y="114300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-0"/>
          <p:cNvSpPr txBox="1"/>
          <p:nvPr/>
        </p:nvSpPr>
        <p:spPr>
          <a:xfrm>
            <a:off x="457200" y="1417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10</a:t>
            </a:r>
            <a:endParaRPr lang="en-US" sz="4000" dirty="0"/>
          </a:p>
        </p:txBody>
      </p:sp>
      <p:sp>
        <p:nvSpPr>
          <p:cNvPr id="5" name="stat-lbl-0"/>
          <p:cNvSpPr txBox="1"/>
          <p:nvPr/>
        </p:nvSpPr>
        <p:spPr>
          <a:xfrm>
            <a:off x="640080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External Entity (E1–E10) ชื่อเดียวกันทุก Level</a:t>
            </a:r>
            <a:endParaRPr lang="en-US" sz="1500" dirty="0"/>
          </a:p>
        </p:txBody>
      </p:sp>
      <p:sp>
        <p:nvSpPr>
          <p:cNvPr id="6" name="stat-bg-1"/>
          <p:cNvSpPr/>
          <p:nvPr/>
        </p:nvSpPr>
        <p:spPr>
          <a:xfrm>
            <a:off x="4251960" y="114300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-1"/>
          <p:cNvSpPr txBox="1"/>
          <p:nvPr/>
        </p:nvSpPr>
        <p:spPr>
          <a:xfrm>
            <a:off x="4251960" y="1417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6 + 12</a:t>
            </a:r>
            <a:endParaRPr lang="en-US" sz="4000" dirty="0"/>
          </a:p>
        </p:txBody>
      </p:sp>
      <p:sp>
        <p:nvSpPr>
          <p:cNvPr id="8" name="stat-lbl-1"/>
          <p:cNvSpPr txBox="1"/>
          <p:nvPr/>
        </p:nvSpPr>
        <p:spPr>
          <a:xfrm>
            <a:off x="4434840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Process ระดับ 1 และ Process ย่อย</a:t>
            </a:r>
            <a:endParaRPr lang="en-US" sz="1500" dirty="0"/>
          </a:p>
        </p:txBody>
      </p:sp>
      <p:sp>
        <p:nvSpPr>
          <p:cNvPr id="9" name="stat-bg-2"/>
          <p:cNvSpPr/>
          <p:nvPr/>
        </p:nvSpPr>
        <p:spPr>
          <a:xfrm>
            <a:off x="8046720" y="114300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2"/>
          <p:cNvSpPr txBox="1"/>
          <p:nvPr/>
        </p:nvSpPr>
        <p:spPr>
          <a:xfrm>
            <a:off x="8046720" y="1417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6 / 16</a:t>
            </a:r>
            <a:endParaRPr lang="en-US" sz="4000" dirty="0"/>
          </a:p>
        </p:txBody>
      </p:sp>
      <p:sp>
        <p:nvSpPr>
          <p:cNvPr id="11" name="stat-lbl-2"/>
          <p:cNvSpPr txBox="1"/>
          <p:nvPr/>
        </p:nvSpPr>
        <p:spPr>
          <a:xfrm>
            <a:off x="8229600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Store ที่แสดงในผัง / ในตารางเล่ม 4</a:t>
            </a:r>
            <a:endParaRPr lang="en-US" sz="1500" dirty="0"/>
          </a:p>
        </p:txBody>
      </p:sp>
      <p:sp>
        <p:nvSpPr>
          <p:cNvPr id="12" name="stat-bg-3"/>
          <p:cNvSpPr/>
          <p:nvPr/>
        </p:nvSpPr>
        <p:spPr>
          <a:xfrm>
            <a:off x="457200" y="361188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3"/>
          <p:cNvSpPr txBox="1"/>
          <p:nvPr/>
        </p:nvSpPr>
        <p:spPr>
          <a:xfrm>
            <a:off x="457200" y="38862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171 / 171</a:t>
            </a:r>
            <a:endParaRPr lang="en-US" sz="4000" dirty="0"/>
          </a:p>
        </p:txBody>
      </p:sp>
      <p:sp>
        <p:nvSpPr>
          <p:cNvPr id="14" name="stat-lbl-3"/>
          <p:cNvSpPr txBox="1"/>
          <p:nvPr/>
        </p:nvSpPr>
        <p:spPr>
          <a:xfrm>
            <a:off x="640080" y="4937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รายการตรวจ Tester ที่ผ่าน</a:t>
            </a:r>
            <a:endParaRPr lang="en-US" sz="1500" dirty="0"/>
          </a:p>
        </p:txBody>
      </p:sp>
      <p:sp>
        <p:nvSpPr>
          <p:cNvPr id="15" name="stat-bg-4"/>
          <p:cNvSpPr/>
          <p:nvPr/>
        </p:nvSpPr>
        <p:spPr>
          <a:xfrm>
            <a:off x="4251960" y="361188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-4"/>
          <p:cNvSpPr txBox="1"/>
          <p:nvPr/>
        </p:nvSpPr>
        <p:spPr>
          <a:xfrm>
            <a:off x="4251960" y="38862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24</a:t>
            </a:r>
            <a:endParaRPr lang="en-US" sz="4000" dirty="0"/>
          </a:p>
        </p:txBody>
      </p:sp>
      <p:sp>
        <p:nvSpPr>
          <p:cNvPr id="17" name="stat-lbl-4"/>
          <p:cNvSpPr txBox="1"/>
          <p:nvPr/>
        </p:nvSpPr>
        <p:spPr>
          <a:xfrm>
            <a:off x="4434840" y="4937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ภาพหน้าแยกที่ใส่เล่ม 4 V1.3 (เดิม 14)</a:t>
            </a:r>
            <a:endParaRPr lang="en-US" sz="1500" dirty="0"/>
          </a:p>
        </p:txBody>
      </p:sp>
      <p:sp>
        <p:nvSpPr>
          <p:cNvPr id="18" name="stat-bg-5"/>
          <p:cNvSpPr/>
          <p:nvPr/>
        </p:nvSpPr>
        <p:spPr>
          <a:xfrm>
            <a:off x="8046720" y="3611880"/>
            <a:ext cx="36118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-5"/>
          <p:cNvSpPr txBox="1"/>
          <p:nvPr/>
        </p:nvSpPr>
        <p:spPr>
          <a:xfrm>
            <a:off x="8046720" y="38862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13</a:t>
            </a:r>
            <a:endParaRPr lang="en-US" sz="4000" dirty="0"/>
          </a:p>
        </p:txBody>
      </p:sp>
      <p:sp>
        <p:nvSpPr>
          <p:cNvPr id="20" name="stat-lbl-5"/>
          <p:cNvSpPr txBox="1"/>
          <p:nvPr/>
        </p:nvSpPr>
        <p:spPr>
          <a:xfrm>
            <a:off x="8229600" y="49377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ประเด็นรอยืนยัน (DQ1–DQ13)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หลักที่ใช้ในการปรับ (ยึดข้อมูลกิจกรรมที่ 7 เท่านั้น)</a:t>
            </a:r>
            <a:endParaRPr lang="en-US" sz="2200" dirty="0"/>
          </a:p>
        </p:txBody>
      </p:sp>
      <p:sp>
        <p:nvSpPr>
          <p:cNvPr id="3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ใช้ Level 1 เป็นต้นแบบ แล้วรวมขึ้นเป็น Level 0 และแตกลงเป็น Level 2 ด้วยชื่อรายการข้อมูลชุดเดียวกัน เพื่อตรวจ Balancing ได้ทีละรายการ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ไฟล์ตัวอย่างกิจกรรมที่ 8 ใช้ดูรูปแบบและ style เท่านั้น ไม่นำขั้นตอนหรือข้อมูลของกิจกรรมอื่นมาใช้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เพิ่มเส้นเฉพาะที่มีหลักฐานในไฟล์ DFD เดิมหรือตารางเล่ม 4 ส่วนที่ไม่แน่ใจติดป้าย [รอยืนยัน DQn] บนเส้น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คอมเมนต์ User Flow ใช้ตรวจผลกระทบเท่านั้น ไม่เปลี่ยน DFD ตาม User Flow หากไม่มีหลักฐาน (เช่น ข้อมูลหนังสือส่งสายอาญา DQ8 ยังไม่เพิ่ม)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ทุก Level มีหน้าภาพรวม + หน้าแยกสำหรับใส่เล่ม (กว้างไม่เกิน 2,400 px อ่านได้ที่ A4 แนวตั้ง)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รูป PNG ส่งออกด้วยฟอนต์ทดแทน ควร export ใหม่จาก draw.io ที่ติดตั้ง TH Sarabun New ก่อนส่งฉบับจริง (DQ11)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Level 0 : Context Diagram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ภาพเดิม 2 ภาพ → ภาพรวม 1 หน้า + หน้าแยก 6 หน้า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ภาพเดิม 1/2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0 ภาพเดิม 1/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2863"/>
            <a:ext cx="11247120" cy="4875194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457200" y="1242863"/>
            <a:ext cx="11247120" cy="4875194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ภาพเดิม 1/2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0 ภาพเดิม 1/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2863"/>
            <a:ext cx="11247120" cy="4875194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457200" y="1242863"/>
            <a:ext cx="11247120" cy="4875194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ภาพเดิม 2/2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0 ภาพเดิม 2/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517"/>
            <a:ext cx="11247120" cy="3901885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457200" y="1729517"/>
            <a:ext cx="11247120" cy="3901885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ภาพเดิม 2/2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0 ภาพเดิม 2/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517"/>
            <a:ext cx="11247120" cy="3901885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457200" y="1729517"/>
            <a:ext cx="11247120" cy="3901885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0 ภาพใหม่ —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7442"/>
            <a:ext cx="11247120" cy="4966036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457200" y="1197442"/>
            <a:ext cx="11247120" cy="4966036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0 ภาพใหม่ —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7442"/>
            <a:ext cx="11247120" cy="4966036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457200" y="1197442"/>
            <a:ext cx="11247120" cy="4966036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หน้า 1/6 : E1–E2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0 ภาพใหม่ — หน้า 1/6 : E1–E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19" y="1188720"/>
            <a:ext cx="10098682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031419" y="1188720"/>
            <a:ext cx="10098682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หน้า 2/6 : E3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0 ภาพใหม่ — หน้า 2/6 : E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54145"/>
            <a:ext cx="11247120" cy="4052631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654145"/>
            <a:ext cx="11247120" cy="4052631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หน้า 3/6 : E4–E5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0 ภาพใหม่ — หน้า 3/6 : E4–E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19" y="1188720"/>
            <a:ext cx="10098682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031419" y="1188720"/>
            <a:ext cx="10098682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หน้า 4/6 : E6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0 ภาพใหม่ — หน้า 4/6 : E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96" y="1188720"/>
            <a:ext cx="11007927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576796" y="1188720"/>
            <a:ext cx="11007927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หน้า 5/6 : E7–E8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0 ภาพใหม่ — หน้า 5/6 : E7–E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187" y="1188720"/>
            <a:ext cx="8187146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987187" y="1188720"/>
            <a:ext cx="8187146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 ภาพใหม่ — หน้า 6/6 : E9–E10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0 ภาพใหม่ — หน้า 6/6 : E9–E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6560"/>
            <a:ext cx="11247120" cy="4767801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296560"/>
            <a:ext cx="11247120" cy="4767801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0: จุดที่เปลี่ยนแปลง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C55A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จุดที่เปลี่ยน</a:t>
            </a:r>
            <a:endParaRPr lang="en-US" sz="1200" dirty="0"/>
          </a:p>
        </p:txBody>
      </p:sp>
      <p:sp>
        <p:nvSpPr>
          <p:cNvPr id="4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เพิ่มหน้าภาพรวม และแยกหน้าใส่เล่ม 6 หน้า (1–2 Entity ต่อหน้า: Process 0 ซ้าย, Entity ขวา)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Process 0 เป็นกล่อง swimlane หัว "0" ตามกติกา ไม่มี Data Store ใน L0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ป้ายเส้นเปลี่ยนเป็นคำนาม เช่น "ลงนามบรรจุวาระการประชุมคณะกรรมการ ป.ป.ท." → "ผลการลงนามบรรจุวาระการประชุม", "จัดทำรายงานวินิจฉัยชี้มูล เสนอคณะกรรมการ" → "ร่างรายงานวินิจฉัยชี้มูล"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รายการข้อมูลบนเส้นรวมมาจาก Level 1 ทุกเส้น (Balancing) ได้ 20 เส้น = 10 Entity × ขาเข้า/ขาออก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แก้คำผิด "กองกราบฯ" → "กองปราบฯ" และผูกเส้นกับกล่องทุกเส้น (เดิม 36 จาก 36 เส้นไม่ผูกกับกล่อง)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ฟอนต์ TH Sarabun New ขนาด 34 ในหน้าแยก ชื่อหน้า 46 ตัวหนา เส้นดำทึบหนา 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0: เหตุผลและแหล่งอ้างอิง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อ้างอิง</a:t>
            </a:r>
            <a:endParaRPr lang="en-US" sz="1200" dirty="0"/>
          </a:p>
        </p:txBody>
      </p:sp>
      <p:sp>
        <p:nvSpPr>
          <p:cNvPr id="4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กติกา DFD (Level 0–2) ข้อ 1–8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บันทึกการแก้ไข 1791976367965 ลำดับ 1: "แก้ไขรูปภาพ Data Flow Diagram ตาม Format ทีม"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ไฟล์ Context Diagram (Level 0) V1.0.2 และตาราง 3.1.1–3.1.2 ในเล่ม 4 V1.2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DFD Level 1 V1.0.3 (ต้นแบบของรายการข้อมูลใน L0)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0: ประเด็นที่ยังรอยืนยัน (1/2)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บันทึกกองปราบฯ เสนอประธานกรรมการ ป.ป.ท.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ภาพ L0 เดิมมีกระแสข้อมูลบันทึกกองปราบฯ ระหว่าง E3 กับระบบ แต่ L1/L2 เดิมไม่ระบุ Process ที่รับผิดชอบ ฉบับใหม่วางไว้ที่ 2.0/2.1 (คัดแยกรายงาน) ถูกต้องหรือไม่ หรือควรอยู่ Process อื่น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ร่วมกับกองบริหารคดี (เจ้าของกระบวนงาน)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ตำแหน่งเส้น E3↔2.0 (L1) และ E3↔2.1 (L2) และชื่อข้อมูลใน L0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ข้อมูลที่ 6.0 ส่งให้ E6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L1 เดิมระบุ 6.0 → E6 "จัดทำคำสั่งคณะกรรมการ" ซึ่งซ้ำกับ 5.0 และเป็นคำกริยา ฉบับใหม่คงไว้เป็น "คำสั่งคณะกรรมการ [รอยืนยัน DQ2]" ขอทราบว่า 6.0 ส่งข้อมูลใดให้กลุ่มงานกิจการคณะกรรมการจริง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 / 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ป้ายเส้น 6.0→E6, 6.1→E6 และรายการข้อมูล E6 ใน L0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กระแสข้อมูลเรื่องเร่งด่วนกับ E7 และไฟล์แนบที่ 1.1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L0 เดิมมีข้อมูลเรื่องเร่งด่วนระหว่าง E7 กับระบบ แต่ L1/L2 ไม่มี ฉบับใหม่เพิ่ม "รายการเรื่องเร่งด่วน" และ "ความเห็นประกอบเรื่องเร่งด่วน" ที่ 1.0/1.1 และเส้น 1.1↔D4 เพื่อให้สมดุล ขอยืนยันชื่อข้อมูลและ Process ย่อยที่รับผิดชอบ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SA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เส้น E7↔1.0, E7↔1.1, 1.1↔D4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0: ประเด็นที่ยังรอยืนยัน (2/2)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DQ7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รายงานการไต่สวนเพิ่มเติมตามมติ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ฉบับใหม่วาง "รายงานการไต่สวนเพิ่มเติมตามมติคณะกรรมการ ป.ป.ท." เป็นข้อมูลจาก E6 เข้า 5.0/5.1 ตามตาราง Level 2 เดิม ขอยืนยันว่าถูก Process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ตำแหน่งเส้น E6→5.0 / E6→5.1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ใช้ L1 เป็นต้นแบบของ L0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ภาพ L0 เดิมกับตาราง 3.1.2 เดิมไม่ตรงกัน ฉบับใหม่จึงรวมกระแสข้อมูลของ L1 ขึ้นเป็น L0 ทุกเส้น (Balancing) ขอยืนยันว่ารายการข้อมูลใน L0 ฉบับใหม่ครบถ้วน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ลูกค้า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รายการข้อมูลบนเส้น L0 และตาราง 3.1.2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ฟอนต์ TH Sarabun New ตอนส่งออกรูป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รูป PNG ชุดนี้ส่งออกด้วยเครื่องมืออัตโนมัติที่ใช้ฟอนต์ Sarabun ปรับขนาดแทน TH Sarabun New ตำแหน่งตัดบรรทัดอาจต่างจากที่เปิดใน draw.io บนเครื่องที่ติดตั้งฟอนต์จริง ควรเปิดไฟล์ .drawio ตรวจและ export ใหม่ก่อนส่งฉบับจริง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ผู้จัดทำเล่ม / ทีมเอกสาร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ความคมชัดและตำแหน่งตัดบรรทัดในรูป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Level 1 : Data Flow Diagram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ภาพเดิม 6 ภาพ → ภาพรวม 1 หน้า + หน้าแยกราย Entity 10 หน้า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ภาพเดิม 1/6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1 ภาพเดิม 1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2357"/>
            <a:ext cx="11247120" cy="4676206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342357"/>
            <a:ext cx="11247120" cy="4676206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ภาพเดิม 2/6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1 ภาพเดิม 2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7635"/>
            <a:ext cx="11247120" cy="384565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757635"/>
            <a:ext cx="11247120" cy="384565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ภาพเดิม 3/6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1 ภาพเดิม 3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648" y="1188720"/>
            <a:ext cx="10044223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058648" y="1188720"/>
            <a:ext cx="10044223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ภาพเดิม 4/6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1 ภาพเดิม 4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00" y="1188720"/>
            <a:ext cx="9348519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406500" y="1188720"/>
            <a:ext cx="9348519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ภาพเดิม 5/6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1 ภาพเดิม 5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3226"/>
            <a:ext cx="11247120" cy="4334467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513226"/>
            <a:ext cx="11247120" cy="4334467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ภาพเดิม 6/6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1 ภาพเดิม 6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6485"/>
            <a:ext cx="11247120" cy="4247951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556485"/>
            <a:ext cx="11247120" cy="4247951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1/4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1 ภาพใหม่ —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558" y="1188720"/>
            <a:ext cx="6928404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2616558" y="1188720"/>
            <a:ext cx="6928404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2/4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1 ภาพใหม่ —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5478" y="1188720"/>
            <a:ext cx="6670564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2745478" y="1188720"/>
            <a:ext cx="6670564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3/4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1 ภาพใหม่ —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5478" y="1188720"/>
            <a:ext cx="6670564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2745478" y="1188720"/>
            <a:ext cx="6670564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4/4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1 ภาพใหม่ —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8716" y="1188720"/>
            <a:ext cx="6924087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2618716" y="1188720"/>
            <a:ext cx="6924087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1/10 : E1 กับ Process 1.0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1/10 : E1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96376"/>
            <a:ext cx="11247120" cy="2768169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2296376"/>
            <a:ext cx="11247120" cy="2768169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2/10 : E2 กับ Process 1.0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2/10 : E2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90178"/>
            <a:ext cx="11247120" cy="2180564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2590178"/>
            <a:ext cx="11247120" cy="2180564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3/10 : E3 กับ Process 2.0, 3.0, 4.0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3/10 : E3 กับ Process 2.0, 3.0, 4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414" y="1188720"/>
            <a:ext cx="9538692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311414" y="1188720"/>
            <a:ext cx="9538692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4/10 : E4 กับ Process 4.0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4/10 : E4 กับ Process 4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90178"/>
            <a:ext cx="11247120" cy="2180564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2590178"/>
            <a:ext cx="11247120" cy="2180564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5/10 : E5 กับ Process 4.0, 5.0, 6.0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5/10 : E5 กับ Process 4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414" y="1188720"/>
            <a:ext cx="9538692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311414" y="1188720"/>
            <a:ext cx="9538692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6/10 : E6 กับ Process 2.0, 3.0, 5.0, 6.0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6/10 : E6 กับ Process 2.0, 3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173" y="1188720"/>
            <a:ext cx="6941175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610173" y="1188720"/>
            <a:ext cx="6941175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7/10 : E7 กับ Process 1.0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7/10 : E7 กับ Process 1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91479"/>
            <a:ext cx="11247120" cy="2377963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2491479"/>
            <a:ext cx="11247120" cy="2377963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8/10 : E8 กับ Process 1.0, 2.0, 4.0, 5.0, 6.0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1 ภาพใหม่ — หน้า 8/10 : E8 กับ Process 1.0, 2.0, 4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736" y="1188720"/>
            <a:ext cx="10824048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668736" y="1188720"/>
            <a:ext cx="10824048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8/10 : E8 กับ Process 1.0, 2.0, 4.0, 5.0, 6.0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1 ภาพใหม่ — หน้า 8/10 : E8 กับ Process 1.0, 2.0, 4.0, 5.0, 6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530" y="1188720"/>
            <a:ext cx="10814461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673530" y="1188720"/>
            <a:ext cx="10814461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9/10 : E9 กับ Process 2.0, 3.0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9/10 : E9 กับ Process 2.0, 3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6797"/>
            <a:ext cx="11247120" cy="4067326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646797"/>
            <a:ext cx="11247120" cy="4067326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 ภาพใหม่ — หน้า 10/10 : E10 กับ Process 3.0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1 ภาพใหม่ — หน้า 10/10 : E10 กับ Process 3.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33789"/>
            <a:ext cx="11247120" cy="2093342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2633789"/>
            <a:ext cx="11247120" cy="2093342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1: จุดที่เปลี่ยนแปลง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C55A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จุดที่เปลี่ยน</a:t>
            </a:r>
            <a:endParaRPr lang="en-US" sz="1200" dirty="0"/>
          </a:p>
        </p:txBody>
      </p:sp>
      <p:sp>
        <p:nvSpPr>
          <p:cNvPr id="4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แยกหน้าใส่เล่ม 1 หน้าต่อ 1 Entity: Entity ซ้าย → Process กลาง → Data Store ขวา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Data Store ใช้รูปทรง dataStoreID แสดง D1, D4, D5, D11, D15, D16 ที่มี Process อ่าน/บันทึก และเลิกเชื่อม Data Store กับ Data Store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เพิ่มเส้นข้อมูลระหว่าง Process 1.0 → 2.0 → 3.0 → 4.0 → 5.0 → 6.0 พร้อมชื่อข้อมูล (เดิมเป็นลูกศรไม่ผูกกล่อง)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ป้ายเส้นเป็นคำนาม เช่น "มอบหมาย,สั่งการ,ลงความเห็น,ลงนาม" → "ความเห็น ข้อสั่งการ และผลการลงนามในรายงานไต่สวนฯ"; "อ่านเอกสารแนบ" → เส้นสองทาง 1.0 ↔ D4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เพิ่มเส้นที่ L0 เดิมมีแต่ L1 ไม่มี เพื่อให้สมดุล เช่น E8 → 1.0 สำนวนเข้า, 4.0 → E8 มติคณะกรรมการ, E7 ↔ 1.0 เรื่องเร่งด่วน [DQ4], E3 ↔ 2.0 บันทึกกองปราบฯ [DQ1]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สะกด "ฟังก์ชั่น" → "ฟังก์ชัน" ในชื่อ Process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1: เหตุผลและแหล่งอ้างอิง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อ้างอิง</a:t>
            </a:r>
            <a:endParaRPr lang="en-US" sz="1200" dirty="0"/>
          </a:p>
        </p:txBody>
      </p:sp>
      <p:sp>
        <p:nvSpPr>
          <p:cNvPr id="4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กติกา DFD ข้อ 1–8 (Data Store เริ่มที่ L1, Balancing, ชื่อข้อมูลเป็นคำนาม)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ไฟล์ Data Flow (Level 1) V1.0.2 และตาราง 3.2.1–3.2.3 ในเล่ม 4 V1.2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Context Diagram V1.0.2 (เส้นที่ต้องสมดุล)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User Flow V1.0.3 (RES027/028/218 การส่งมติ) ใช้ยืนยันทิศทางข้อมูลเท่านั้น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1: ประเด็นที่ยังรอยืนยัน (1/2)</a:t>
            </a:r>
            <a:endParaRPr lang="en-US" sz="2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บันทึกกองปราบฯ เสนอประธานกรรมการ ป.ป.ท.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ภาพ L0 เดิมมีกระแสข้อมูลบันทึกกองปราบฯ ระหว่าง E3 กับระบบ แต่ L1/L2 เดิมไม่ระบุ Process ที่รับผิดชอบ ฉบับใหม่วางไว้ที่ 2.0/2.1 (คัดแยกรายงาน) ถูกต้องหรือไม่ หรือควรอยู่ Process อื่น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ร่วมกับกองบริหารคดี (เจ้าของกระบวนงาน)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ตำแหน่งเส้น E3↔2.0 (L1) และ E3↔2.1 (L2) และชื่อข้อมูลใน L0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ข้อมูลที่ 6.0 ส่งให้ E6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L1 เดิมระบุ 6.0 → E6 "จัดทำคำสั่งคณะกรรมการ" ซึ่งซ้ำกับ 5.0 และเป็นคำกริยา ฉบับใหม่คงไว้เป็น "คำสั่งคณะกรรมการ [รอยืนยัน DQ2]" ขอทราบว่า 6.0 ส่งข้อมูลใดให้กลุ่มงานกิจการคณะกรรมการจริง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 / 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ป้ายเส้น 6.0→E6, 6.1→E6 และรายการข้อมูล E6 ใน L0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Data Store ลูกที่ไม่แสดงในผัง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ผังเดิมเชื่อม Data Store ต่อกันเอง (D1→D2→D3→D4, D5→…→D10, D11→…→D14) ซึ่งผิดกติกา DFD ฉบับใหม่แสดงเฉพาะ D1, D4, D5, D11, D15, D16 ที่มีหลักฐานการอ่าน/บันทึกโดย Process ขอให้ระบุว่า D2, D3, D6–D10, D12–D14 ถูกอ่าน/บันทึกโดย Process ใด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 (ผู้ออกแบบฐานข้อมูล)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เส้น Process↔Data Store ใน L1/L2 และแถว Data Store↔Data Store ในตาราง 3.2.3 / 3.3.3 ที่ยังคงไว้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กระแสข้อมูลเรื่องเร่งด่วนกับ E7 และไฟล์แนบที่ 1.1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L0 เดิมมีข้อมูลเรื่องเร่งด่วนระหว่าง E7 กับระบบ แต่ L1/L2 ไม่มี ฉบับใหม่เพิ่ม "รายการเรื่องเร่งด่วน" และ "ความเห็นประกอบเรื่องเร่งด่วน" ที่ 1.0/1.1 และเส้น 1.1↔D4 เพื่อให้สมดุล ขอยืนยันชื่อข้อมูลและ Process ย่อยที่รับผิดชอบ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SA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เส้น E7↔1.0, E7↔1.1, 1.1↔D4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1: ประเด็นที่ยังรอยืนยัน (2/2)</a:t>
            </a:r>
            <a:endParaRPr lang="en-US" sz="2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DQ7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รายงานการไต่สวนเพิ่มเติมตามมติ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ฉบับใหม่วาง "รายงานการไต่สวนเพิ่มเติมตามมติคณะกรรมการ ป.ป.ท." เป็นข้อมูลจาก E6 เข้า 5.0/5.1 ตามตาราง Level 2 เดิม ขอยืนยันว่าถูก Process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ตำแหน่งเส้น E6→5.0 / E6→5.1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DQ9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ชื่อ Process 3.0 กับ 3.1 ไม่สอดคล้องกัน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3.0 ใช้คำว่า "มอบสำเนา…" แต่ 3.1 ใช้ "มอบหมาย…" ชื่อที่ถูกต้องคือคำใด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ชื่อ Process 3.0/3.1 ทุก Level และตาราง 3.2.1, 3.3.1.3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ฟอนต์ TH Sarabun New ตอนส่งออกรูป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รูป PNG ชุดนี้ส่งออกด้วยเครื่องมืออัตโนมัติที่ใช้ฟอนต์ Sarabun ปรับขนาดแทน TH Sarabun New ตำแหน่งตัดบรรทัดอาจต่างจากที่เปิดใน draw.io บนเครื่องที่ติดตั้งฟอนต์จริง ควรเปิดไฟล์ .drawio ตรวจและ export ใหม่ก่อนส่งฉบับจริง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ผู้จัดทำเล่ม / ทีมเอกสาร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ความคมชัดและตำแหน่งตัดบรรทัดในรูป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รหัส Data Store 2 หลักกับรูปทรง dataStoreID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ช่องรหัสของรูปทรง mxgraph.dfd.dataStoreID กว้างคงที่ 30 px ทำให้ D11, D15, D16 ขนาด 34 ไม่พอดีช่อง จึงใช้ขนาด 20 เฉพาะรหัส 2 หลัก (ชื่อ Data Store ยังเป็น 34) ยอมรับข้อยกเว้นนี้หรือไม่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PM / ผู้กำหนดกติกา DFD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ขนาดตัวอักษรรหัส D11, D15, D16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Level 2 : Data Flow Diagram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ภาพเดิม 6 ภาพ → แยกแท็บราย Process แม่ (ภาพรวม 1.0 + หน้าแยก 8 หน้า)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1/6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เดิม 1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561" y="1188720"/>
            <a:ext cx="8790399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685561" y="1188720"/>
            <a:ext cx="8790399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1/6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เดิม 1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561" y="1188720"/>
            <a:ext cx="8790399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685561" y="1188720"/>
            <a:ext cx="8790399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2/6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2 ภาพเดิม 2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052" y="1188720"/>
            <a:ext cx="7881416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140052" y="1188720"/>
            <a:ext cx="7881416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3/6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2 ภาพเดิม 3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848" y="1188720"/>
            <a:ext cx="7895824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132848" y="1188720"/>
            <a:ext cx="7895824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4/6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เดิม 4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384" y="1188720"/>
            <a:ext cx="7800751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2180384" y="1188720"/>
            <a:ext cx="7800751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4/6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เดิม 4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384" y="1188720"/>
            <a:ext cx="7800751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2180384" y="1188720"/>
            <a:ext cx="7800751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5/6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2 ภาพเดิม 5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913" y="1188720"/>
            <a:ext cx="8707694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726913" y="1188720"/>
            <a:ext cx="8707694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ภาพเดิม 6/6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ภาพเดิม V1.0.2</a:t>
            </a:r>
            <a:endParaRPr lang="en-US" sz="1200" dirty="0"/>
          </a:p>
        </p:txBody>
      </p:sp>
      <p:pic>
        <p:nvPicPr>
          <p:cNvPr id="4" name="diagram" descr="Level 2 ภาพเดิม 6/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9760" y="1188720"/>
            <a:ext cx="8502000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1829760" y="1188720"/>
            <a:ext cx="8502000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1.0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1/3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ใหม่ — Process 1.0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283" y="1188720"/>
            <a:ext cx="8336955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912283" y="1188720"/>
            <a:ext cx="8336955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1.0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2/3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ใหม่ — Process 1.0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789" y="1188720"/>
            <a:ext cx="8023943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2068789" y="1188720"/>
            <a:ext cx="8023943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1.0 ภาพรวม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3/3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ใหม่ — Process 1.0 ภาพรว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408" y="1188720"/>
            <a:ext cx="8330705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915408" y="1188720"/>
            <a:ext cx="8330705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1.0 หน้า 1/3 : Process 1.1–1.2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ใหม่ — Process 1.0 หน้า 1/3 : Process 1.1–1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643" y="1188720"/>
            <a:ext cx="9744235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208643" y="1188720"/>
            <a:ext cx="9744235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1.0 หน้า 1/3 : Process 1.1–1.2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ใหม่ — Process 1.0 หน้า 1/3 : Process 1.1–1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528" y="1188720"/>
            <a:ext cx="9736464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212528" y="1188720"/>
            <a:ext cx="9736464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1.0 หน้า 2/3 : Process 1.3–1.4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2 ภาพใหม่ — Process 1.0 หน้า 2/3 : Process 1.3–1.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867" y="1188720"/>
            <a:ext cx="7851785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154867" y="1188720"/>
            <a:ext cx="7851785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1.0 หน้า 3/3 : Process 1.5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2 ภาพใหม่ — Process 1.0 หน้า 3/3 : Process 1.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23231"/>
            <a:ext cx="11247120" cy="3314457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2023231"/>
            <a:ext cx="11247120" cy="3314457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2.0 หน้า 1/1 : Process 2.1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2 ภาพใหม่ — Process 2.0 หน้า 1/1 : Process 2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056" y="1188720"/>
            <a:ext cx="6549409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806056" y="1188720"/>
            <a:ext cx="6549409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3.0 หน้า 1/1 : Process 3.1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2 ภาพใหม่ — Process 3.0 หน้า 1/1 : Process 3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2320" y="1188720"/>
            <a:ext cx="6356880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902320" y="1188720"/>
            <a:ext cx="6356880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4.0 หน้า 1/1 : Process 4.1–4.2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1/2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ใหม่ — Process 4.0 หน้า 1/1 : Process 4.1–4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75" y="1188720"/>
            <a:ext cx="9975170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093175" y="1188720"/>
            <a:ext cx="9975170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4.0 หน้า 1/1 : Process 4.1–4.2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sp>
        <p:nvSpPr>
          <p:cNvPr id="4" name="part"/>
          <p:cNvSpPr/>
          <p:nvPr/>
        </p:nvSpPr>
        <p:spPr>
          <a:xfrm>
            <a:off x="251460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ส่วนที่ 2/2 (ภาพแบ่งเพื่อให้อ่านได้ มีส่วนซ้อนกันเล็กน้อย)</a:t>
            </a:r>
            <a:endParaRPr lang="en-US" sz="1200" dirty="0"/>
          </a:p>
        </p:txBody>
      </p:sp>
      <p:pic>
        <p:nvPicPr>
          <p:cNvPr id="5" name="diagram" descr="Level 2 ภาพใหม่ — Process 4.0 หน้า 1/1 : Process 4.1–4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88720"/>
            <a:ext cx="9966960" cy="4983480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1097280" y="1188720"/>
            <a:ext cx="9966960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5.0 หน้า 1/1 : Process 5.1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2 ภาพใหม่ — Process 5.0 หน้า 1/1 : Process 5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59" y="1188720"/>
            <a:ext cx="7461403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350059" y="1188720"/>
            <a:ext cx="7461403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 ภาพใหม่ — Process 6.0 หน้า 1/1 : Process 6.1–6.2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ภาพใหม่ V1.0.3</a:t>
            </a:r>
            <a:endParaRPr lang="en-US" sz="1200" dirty="0"/>
          </a:p>
        </p:txBody>
      </p:sp>
      <p:pic>
        <p:nvPicPr>
          <p:cNvPr id="4" name="diagram" descr="Level 2 ภาพใหม่ — Process 6.0 หน้า 1/1 : Process 6.1–6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041" y="1188720"/>
            <a:ext cx="6731438" cy="498348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2715041" y="1188720"/>
            <a:ext cx="6731438" cy="4983480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2: จุดที่เปลี่ยนแปลง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C55A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จุดที่เปลี่ยน</a:t>
            </a:r>
            <a:endParaRPr lang="en-US" sz="1200" dirty="0"/>
          </a:p>
        </p:txBody>
      </p:sp>
      <p:sp>
        <p:nvSpPr>
          <p:cNvPr id="4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ไฟล์ Level 2 แยกแท็บราย Process 1.0–6.0; Process 1.0 มีภาพรวมและหน้าแยก 3 หน้า Process อื่นหน้าเดียว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ชื่อ Process ย่อยเป็นกริยา + กรรม ตัดคำว่า "ระบบ" เช่น "ระบบสืบค้นข้อมูลสำนวนคดี" → "สืบค้นข้อมูลสำนวนคดี", "รายการพิจารณา/ลงนาม" → "แสดงรายการพิจารณา/ลงนาม"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ใช้กล่อง Process เส้นประสีเทาแทน Process ที่อยู่หน้าอื่น พร้อมหมายเหตุท้ายหน้า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ป้ายเส้นเป็นคำนาม เช่น "ลงนาม" → "ความเห็น ข้อสั่งการ และผลการลงนามในรายงานไต่สวนฯ", "รับมอบหมาย" → "รายงานที่ได้รับมอบหมาย"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เส้นไม่ตัดผ่านกล่อง และเพิ่มเส้นให้สมดุลกับ L1 เช่น 1.5 → E1, 4.1 → E3, 4.1 → 4.2, 6.1 → E5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ผล Tester: Balancing L1 ↔ L2 ผ่านครบทั้ง 6 Process แม่ ทุก Process ย่อยมีข้อมูลเข้าและออก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2: เหตุผลและแหล่งอ้างอิง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อ้างอิง</a:t>
            </a:r>
            <a:endParaRPr lang="en-US" sz="1200" dirty="0"/>
          </a:p>
        </p:txBody>
      </p:sp>
      <p:sp>
        <p:nvSpPr>
          <p:cNvPr id="4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กติกา DFD ข้อ 2 (ชื่อ Process L2), ข้อ 7 (หน้าแยก + กล่องเส้นประ)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ไฟล์ Data Flow (Level 2) V1.0.2 และตาราง 3.3.1–3.3.3 ในเล่ม 4 V1.2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ตารางกระบวนการย่อย 3.3.1.1 (1.5 "เสนอคืนเลขาธิการฯ"), 3.3.1.4 (4.1 → 4.2 วาระการประชุม)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DFD Level 1 V1.0.3 (ต้นแบบสำหรับ Balancing)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2: ประเด็นที่ยังรอยืนยัน (1/2)</a:t>
            </a:r>
            <a:endParaRPr lang="en-US" sz="22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Data Store ลูกที่ไม่แสดงในผัง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ผังเดิมเชื่อม Data Store ต่อกันเอง (D1→D2→D3→D4, D5→…→D10, D11→…→D14) ซึ่งผิดกติกา DFD ฉบับใหม่แสดงเฉพาะ D1, D4, D5, D11, D15, D16 ที่มีหลักฐานการอ่าน/บันทึกโดย Process ขอให้ระบุว่า D2, D3, D6–D10, D12–D14 ถูกอ่าน/บันทึกโดย Process ใด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 (ผู้ออกแบบฐานข้อมูล)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เส้น Process↔Data Store ใน L1/L2 และแถว Data Store↔Data Store ในตาราง 3.2.3 / 3.3.3 ที่ยังคงไว้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กระแสข้อมูลเรื่องเร่งด่วนกับ E7 และไฟล์แนบที่ 1.1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L0 เดิมมีข้อมูลเรื่องเร่งด่วนระหว่าง E7 กับระบบ แต่ L1/L2 ไม่มี ฉบับใหม่เพิ่ม "รายการเรื่องเร่งด่วน" และ "ความเห็นประกอบเรื่องเร่งด่วน" ที่ 1.0/1.1 และเส้น 1.1↔D4 เพื่อให้สมดุล ขอยืนยันชื่อข้อมูลและ Process ย่อยที่รับผิดชอบ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SA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เส้น E7↔1.0, E7↔1.1, 1.1↔D4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DQ7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รายงานการไต่สวนเพิ่มเติมตามมติ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ฉบับใหม่วาง "รายงานการไต่สวนเพิ่มเติมตามมติคณะกรรมการ ป.ป.ท." เป็นข้อมูลจาก E6 เข้า 5.0/5.1 ตามตาราง Level 2 เดิม ขอยืนยันว่าถูก Process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ตำแหน่งเส้น E6→5.0 / E6→5.1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Level 2: ประเด็นที่ยังรอยืนยัน (2/2)</a:t>
            </a:r>
            <a:endParaRPr lang="en-US" sz="22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ฟอนต์ TH Sarabun New ตอนส่งออกรูป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รูป PNG ชุดนี้ส่งออกด้วยเครื่องมืออัตโนมัติที่ใช้ฟอนต์ Sarabun ปรับขนาดแทน TH Sarabun New ตำแหน่งตัดบรรทัดอาจต่างจากที่เปิดใน draw.io บนเครื่องที่ติดตั้งฟอนต์จริง ควรเปิดไฟล์ .drawio ตรวจและ export ใหม่ก่อนส่งฉบับจริง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ผู้จัดทำเล่ม / ทีมเอกสาร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ความคมชัดและตำแหน่งตัดบรรทัดในรูป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Process 2.0 และ 3.0 แตกย่อยได้เพียง 1 Process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Level 2 เดิมแตก 2.0 เป็น 2.1 และ 3.0 เป็น 3.1 เพียงอย่างละ 1 Process ซึ่งไม่ได้แตกรายละเอียดเพิ่ม ต้องแยกย่อยเพิ่ม (เช่น ตามประเภทสำนวน) หรือคงไว้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โครงสร้าง L2 ของ 2.0/3.0 และตาราง 3.3.1.2, 3.3.1.3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รหัส Data Store 2 หลักกับรูปทรง dataStoreID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ช่องรหัสของรูปทรง mxgraph.dfd.dataStoreID กว้างคงที่ 30 px ทำให้ D11, D15, D16 ขนาด 34 ไม่พอดีช่อง จึงใช้ขนาด 20 เฉพาะรหัส 2 หลัก (ชื่อ Data Store ยังเป็น 34) ยอมรับข้อยกเว้นนี้หรือไม่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PM / ผู้กำหนดกติกา DFD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ขนาดตัวอักษรรหัส D11, D15, D16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ผลตรวจ Tester (อัตโนมัติ + ตรวจด้วยสายตา)</a:t>
            </a:r>
            <a:endParaRPr lang="en-US" sz="22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89611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Tester</a:t>
            </a:r>
            <a:endParaRPr lang="en-US" sz="1200" dirty="0"/>
          </a:p>
        </p:txBody>
      </p:sp>
      <p:sp>
        <p:nvSpPr>
          <p:cNvPr id="4" name="bullets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ผ่าน 171 จาก 171 รายการ: ไม่มีคำว่า TOR, ฟอนต์ TH Sarabun New ทุกจุด, พื้นกล่องขาว, เส้นดำทึบหัว block, เส้นประเฉพาะกล่องอ้างอิงข้ามหน้า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ไม่มีเส้นลอย (ทุกเส้นมีต้นทาง/ปลายทาง), ป้ายข้อมูลไม่ทับเส้นหรือกล่อง และห่างเส้น ≥ 10 px, เส้นไม่ตัดผ่านกล่อง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Balancing: L0 = ผลรวมของ L1 ทุกรายการ, L1 ↔ L2 ตรงกันทั้ง 6 Process แม่ (Entity, Process อื่น และ Data Store)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ทุก Process ระดับ 1 และระดับ 2 มีข้อมูลเข้าและข้อมูลออก; หน้าแยกทุกหน้ามีชื่อหน้า (หน้า i/N …) และหน้าที่มีกล่องเส้นประมีหมายเหตุ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ทดสอบตัวตรวจด้วยการลบเส้น E6 → 6.2 ชั่วคราว ตัวตรวจแจ้ง Balancing ไม่ผ่านถูกต้อง แล้วคืนค่าเดิม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</a:rPr>
              <a:t>ข้อจำกัด: รูปส่งออกด้วยฟอนต์ทดแทน ตำแหน่งตัดบรรทัดอาจต่างเล็กน้อยเมื่อเปิดด้วย TH Sarabun New จริง (DQ11)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ประเด็นรอยืนยันทั้งหมด (1/4)</a:t>
            </a:r>
            <a:endParaRPr lang="en-US" sz="22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บันทึกกองปราบฯ เสนอประธานกรรมการ ป.ป.ท.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ภาพ L0 เดิมมีกระแสข้อมูลบันทึกกองปราบฯ ระหว่าง E3 กับระบบ แต่ L1/L2 เดิมไม่ระบุ Process ที่รับผิดชอบ ฉบับใหม่วางไว้ที่ 2.0/2.1 (คัดแยกรายงาน) ถูกต้องหรือไม่ หรือควรอยู่ Process อื่น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ร่วมกับกองบริหารคดี (เจ้าของกระบวนงาน)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ตำแหน่งเส้น E3↔2.0 (L1) และ E3↔2.1 (L2) และชื่อข้อมูลใน L0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ข้อมูลที่ 6.0 ส่งให้ E6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L1 เดิมระบุ 6.0 → E6 "จัดทำคำสั่งคณะกรรมการ" ซึ่งซ้ำกับ 5.0 และเป็นคำกริยา ฉบับใหม่คงไว้เป็น "คำสั่งคณะกรรมการ [รอยืนยัน DQ2]" ขอทราบว่า 6.0 ส่งข้อมูลใดให้กลุ่มงานกิจการคณะกรรมการจริง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 / 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ป้ายเส้น 6.0→E6, 6.1→E6 และรายการข้อมูล E6 ใน L0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Data Store ลูกที่ไม่แสดงในผัง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ผังเดิมเชื่อม Data Store ต่อกันเอง (D1→D2→D3→D4, D5→…→D10, D11→…→D14) ซึ่งผิดกติกา DFD ฉบับใหม่แสดงเฉพาะ D1, D4, D5, D11, D15, D16 ที่มีหลักฐานการอ่าน/บันทึกโดย Process ขอให้ระบุว่า D2, D3, D6–D10, D12–D14 ถูกอ่าน/บันทึกโดย Process ใด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 (ผู้ออกแบบฐานข้อมูล)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เส้น Process↔Data Store ใน L1/L2 และแถว Data Store↔Data Store ในตาราง 3.2.3 / 3.3.3 ที่ยังคงไว้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กระแสข้อมูลเรื่องเร่งด่วนกับ E7 และไฟล์แนบที่ 1.1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L0 เดิมมีข้อมูลเรื่องเร่งด่วนระหว่าง E7 กับระบบ แต่ L1/L2 ไม่มี ฉบับใหม่เพิ่ม "รายการเรื่องเร่งด่วน" และ "ความเห็นประกอบเรื่องเร่งด่วน" ที่ 1.0/1.1 และเส้น 1.1↔D4 เพื่อให้สมดุล ขอยืนยันชื่อข้อมูลและ Process ย่อยที่รับผิดชอบ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SA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เส้น E7↔1.0, E7↔1.1, 1.1↔D4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ประเด็นรอยืนยันทั้งหมด (2/4)</a:t>
            </a:r>
            <a:endParaRPr lang="en-US" sz="22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DQ5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จุดเชื่อมต่อกับกิจกรรมอื่น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Mockup อ้างถึงข้อมูลจากกิจกรรมที่ 4 (ช่องทาง A7-01), กิจกรรมที่ 6 (คุ้มครองพยาน A7-06) และการแจ้งผู้รับผิดชอบสำนวนของกิจกรรมที่ 5 (A7-13) ต้องแสดงระบบของกิจกรรมอื่นเป็น External Entity หรือไม่ และชื่อข้อมูลคืออะไร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PM / SA (ระดับโครงการ)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อาจต้องเพิ่ม Entity ใหม่ (E11 ขึ้นไป) ทุก Level และตาราง 3.1.1, 3.1.2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DQ6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ผู้รับมติ/เอกสารคืน และการส่ง ป.ป.ช.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คำอธิบายเดิมของ E4 กล่าวถึง "ส่งมติ/เอกสารคืน, ส่ง ป.ป.ช." แต่ไม่มี Entity ผู้รับ ต้องเพิ่ม Entity สำนักงาน ป.ป.ช. หรือหน่วยงานอื่นหรือไม่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ลูกค้า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อาจเพิ่ม Entity และกระแสข้อมูลที่ 4.0/4.2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DQ7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รายงานการไต่สวนเพิ่มเติมตามมติ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ฉบับใหม่วาง "รายงานการไต่สวนเพิ่มเติมตามมติคณะกรรมการ ป.ป.ท." เป็นข้อมูลจาก E6 เข้า 5.0/5.1 ตามตาราง Level 2 เดิม ขอยืนยันว่าถูก Process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ตำแหน่งเส้น E6→5.0 / E6→5.1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DQ8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ข้อมูลหนังสือส่งกรณีสายอาญา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Mockup A7-17 ถึง A7-19 และ User Flow Q5 มีข้อมูลเลขหนังสือส่ง ลงวันที่ วันที่ส่ง และเลข EMS แต่ DFD เดิมไม่มี ต้องเพิ่มกระแสข้อมูล/ผู้รับหรือไม่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กลุ่มงานกิจการคณะกรรมการ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อาจเพิ่มกระแสข้อมูลและ Entity ผู้รับที่ 5.0 หรือ 6.0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ประเด็นรอยืนยันทั้งหมด (3/4)</a:t>
            </a:r>
            <a:endParaRPr lang="en-US" sz="22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DQ9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ชื่อ Process 3.0 กับ 3.1 ไม่สอดคล้องกัน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3.0 ใช้คำว่า "มอบสำเนา…" แต่ 3.1 ใช้ "มอบหมาย…" ชื่อที่ถูกต้องคือคำใด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ชื่อ Process 3.0/3.1 ทุก Level และตาราง 3.2.1, 3.3.1.3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DQ10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ใช้ L1 เป็นต้นแบบของ L0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ภาพ L0 เดิมกับตาราง 3.1.2 เดิมไม่ตรงกัน ฉบับใหม่จึงรวมกระแสข้อมูลของ L1 ขึ้นเป็น L0 ทุกเส้น (Balancing) ขอยืนยันว่ารายการข้อมูลใน L0 ฉบับใหม่ครบถ้วน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BA / ลูกค้า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รายการข้อมูลบนเส้น L0 และตาราง 3.1.2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DQ11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ฟอนต์ TH Sarabun New ตอนส่งออกรูป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รูป PNG ชุดนี้ส่งออกด้วยเครื่องมืออัตโนมัติที่ใช้ฟอนต์ Sarabun ปรับขนาดแทน TH Sarabun New ตำแหน่งตัดบรรทัดอาจต่างจากที่เปิดใน draw.io บนเครื่องที่ติดตั้งฟอนต์จริง ควรเปิดไฟล์ .drawio ตรวจและ export ใหม่ก่อนส่งฉบับจริง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ผู้จัดทำเล่ม / ทีมเอกสาร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ความคมชัดและตำแหน่งตัดบรรทัดในรูป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DQ12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Process 2.0 และ 3.0 แตกย่อยได้เพียง 1 Process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Level 2 เดิมแตก 2.0 เป็น 2.1 และ 3.0 เป็น 3.1 เพียงอย่างละ 1 Process ซึ่งไม่ได้แตกรายละเอียดเพิ่ม ต้องแยกย่อยเพิ่ม (เช่น ตามประเภทสำนวน) หรือคงไว้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SA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โครงสร้าง L2 ของ 2.0/3.0 และตาราง 3.3.1.2, 3.3.1.3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ประเด็นรอยืนยันทั้งหมด (4/4)</a:t>
            </a:r>
            <a:endParaRPr lang="en-US" sz="22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9202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 / คำถาม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ผู้ที่ควรยืนยัน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DQ13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</a:rPr>
                        <a:t>รหัส Data Store 2 หลักกับรูปทรง dataStoreID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ช่องรหัสของรูปทรง mxgraph.dfd.dataStoreID กว้างคงที่ 30 px ทำให้ D11, D15, D16 ขนาด 34 ไม่พอดีช่อง จึงใช้ขนาด 20 เฉพาะรหัส 2 หลัก (ชื่อ Data Store ยังเป็น 34) ยอมรับข้อยกเว้นนี้หรือไม่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PM / ผู้กำหนดกติกา DFD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ขนาดตัวอักษรรหัส D11, D15, D16</a:t>
                      </a:r>
                      <a:endParaRPr lang="en-US" sz="1200" dirty="0"/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-CMIS DFD">
  <a:themeElements>
    <a:clrScheme name="E-CMIS DFD">
      <a:dk1>
        <a:srgbClr val="1B2A3A"/>
      </a:dk1>
      <a:lt1>
        <a:srgbClr val="FFFFFF"/>
      </a:lt1>
      <a:dk2>
        <a:srgbClr val="1F4E79"/>
      </a:dk2>
      <a:lt2>
        <a:srgbClr val="EEF3F8"/>
      </a:lt2>
      <a:accent1>
        <a:srgbClr val="1F4E79"/>
      </a:accent1>
      <a:accent2>
        <a:srgbClr val="C55A11"/>
      </a:accent2>
      <a:accent3>
        <a:srgbClr val="5B9BD5"/>
      </a:accent3>
      <a:accent4>
        <a:srgbClr val="70AD47"/>
      </a:accent4>
      <a:accent5>
        <a:srgbClr val="7F7F7F"/>
      </a:accent5>
      <a:accent6>
        <a:srgbClr val="D6E4F0"/>
      </a:accent6>
      <a:hlink>
        <a:srgbClr val="1F4E79"/>
      </a:hlink>
      <a:folHlink>
        <a:srgbClr val="7F7F7F"/>
      </a:folHlink>
    </a:clrScheme>
    <a:fontScheme name="E-CMIS DFD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สรุปการปรับ Data Flow Diagram กิจกรรมที่ 7 (V1.0.2 → V1.0.3)</dc:title>
  <dc:subject>PptxGenJS Presentation</dc:subject>
  <dc:creator>กิจการค้าร่วม SS CONSORTIUM (ร่างโดย Claude)</dc:creator>
  <cp:lastModifiedBy>กิจการค้าร่วม SS CONSORTIUM (ร่างโดย Claude)</cp:lastModifiedBy>
  <cp:revision>1</cp:revision>
  <dcterms:created xsi:type="dcterms:W3CDTF">2026-10-26T08:38:16Z</dcterms:created>
  <dcterms:modified xsi:type="dcterms:W3CDTF">2026-10-26T08:38:16Z</dcterms:modified>
</cp:coreProperties>
</file>